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4" r:id="rId20"/>
    <p:sldId id="289" r:id="rId21"/>
    <p:sldId id="290" r:id="rId22"/>
    <p:sldId id="275" r:id="rId23"/>
    <p:sldId id="288" r:id="rId24"/>
    <p:sldId id="276" r:id="rId25"/>
    <p:sldId id="277" r:id="rId26"/>
    <p:sldId id="278" r:id="rId27"/>
    <p:sldId id="279" r:id="rId28"/>
    <p:sldId id="280" r:id="rId29"/>
    <p:sldId id="282" r:id="rId30"/>
    <p:sldId id="291" r:id="rId31"/>
    <p:sldId id="285" r:id="rId32"/>
    <p:sldId id="292" r:id="rId33"/>
    <p:sldId id="293" r:id="rId34"/>
    <p:sldId id="295" r:id="rId35"/>
    <p:sldId id="296" r:id="rId36"/>
    <p:sldId id="294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1196975"/>
            <a:ext cx="8207375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2422525"/>
            <a:ext cx="8212138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MongoDB &amp; Frontend–Backend Integration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Sprint - 4</a:t>
            </a:r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1695" y="306070"/>
            <a:ext cx="8229600" cy="582613"/>
          </a:xfrm>
        </p:spPr>
        <p:txBody>
          <a:bodyPr/>
          <a:lstStyle/>
          <a:p>
            <a:r>
              <a:t>What is MongoDB?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875" y="1021080"/>
            <a:ext cx="7491095" cy="4526280"/>
          </a:xfrm>
        </p:spPr>
        <p:txBody>
          <a:bodyPr>
            <a:noAutofit/>
          </a:bodyPr>
          <a:lstStyle/>
          <a:p>
            <a:endParaRPr sz="2400"/>
          </a:p>
          <a:p>
            <a:r>
              <a:rPr sz="2400"/>
              <a:t>MongoDB is a NoSQL, document-oriented database.</a:t>
            </a:r>
            <a:endParaRPr sz="2400"/>
          </a:p>
          <a:p>
            <a:r>
              <a:rPr sz="2400"/>
              <a:t>Designed to store, manage, and retrieve large volumes of unstructured or semi-structured data efficiently.</a:t>
            </a:r>
            <a:endParaRPr sz="2400"/>
          </a:p>
          <a:p>
            <a:r>
              <a:rPr sz="2400"/>
              <a:t>Stores data in JSON-</a:t>
            </a:r>
            <a:r>
              <a:rPr sz="2000"/>
              <a:t>like </a:t>
            </a:r>
            <a:r>
              <a:rPr sz="2400"/>
              <a:t>documents.</a:t>
            </a:r>
            <a:endParaRPr sz="2400"/>
          </a:p>
          <a:p>
            <a:r>
              <a:rPr sz="2400"/>
              <a:t>Schema-flexible (not schema-less).</a:t>
            </a:r>
            <a:endParaRPr sz="2400"/>
          </a:p>
          <a:p>
            <a:r>
              <a:rPr sz="2400"/>
              <a:t>Designed for high performance, scalability, and availability.</a:t>
            </a:r>
            <a:endParaRPr sz="2400"/>
          </a:p>
          <a:p>
            <a:r>
              <a:rPr sz="2400"/>
              <a:t>Example: Storing user profiles with varying fields like social links, preferences, etc.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24535"/>
            <a:ext cx="8216900" cy="582930"/>
          </a:xfrm>
        </p:spPr>
        <p:txBody>
          <a:bodyPr/>
          <a:lstStyle/>
          <a:p>
            <a:r>
              <a:rPr sz="3200"/>
              <a:t>Why MongoDB in Modern Applications?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500" y="1495425"/>
            <a:ext cx="7241540" cy="4953000"/>
          </a:xfrm>
        </p:spPr>
        <p:txBody>
          <a:bodyPr/>
          <a:lstStyle/>
          <a:p>
            <a:endParaRPr sz="2400"/>
          </a:p>
          <a:p>
            <a:r>
              <a:rPr sz="2400"/>
              <a:t>Rapid application development.</a:t>
            </a:r>
            <a:endParaRPr sz="2400"/>
          </a:p>
          <a:p>
            <a:r>
              <a:rPr sz="2400"/>
              <a:t>Flexible data structures.</a:t>
            </a:r>
            <a:endParaRPr sz="2400"/>
          </a:p>
          <a:p>
            <a:r>
              <a:rPr sz="2400"/>
              <a:t>Seamless integration with JavaScript-based stacks (MERN).</a:t>
            </a:r>
            <a:endParaRPr sz="2400"/>
          </a:p>
          <a:p>
            <a:r>
              <a:rPr sz="2400"/>
              <a:t>Horizontal scalability using sharding.</a:t>
            </a:r>
            <a:endParaRPr sz="2400"/>
          </a:p>
          <a:p>
            <a:r>
              <a:rPr sz="2400"/>
              <a:t>Example: Startup applications where requirements change frequently.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2130" y="368300"/>
            <a:ext cx="8229600" cy="582613"/>
          </a:xfrm>
        </p:spPr>
        <p:txBody>
          <a:bodyPr/>
          <a:lstStyle/>
          <a:p>
            <a:r>
              <a:t>MongoDB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4750"/>
            <a:ext cx="7035800" cy="4953000"/>
          </a:xfrm>
        </p:spPr>
        <p:txBody>
          <a:bodyPr/>
          <a:lstStyle/>
          <a:p>
            <a:endParaRPr sz="2800"/>
          </a:p>
          <a:p>
            <a:r>
              <a:rPr sz="2800"/>
              <a:t>Web and mobile applications.</a:t>
            </a:r>
            <a:endParaRPr sz="2800"/>
          </a:p>
          <a:p>
            <a:r>
              <a:rPr sz="2800"/>
              <a:t>Real-time analytics.</a:t>
            </a:r>
            <a:endParaRPr sz="2800"/>
          </a:p>
          <a:p>
            <a:r>
              <a:rPr sz="2800"/>
              <a:t>Content management systems.</a:t>
            </a:r>
            <a:endParaRPr sz="2800"/>
          </a:p>
          <a:p>
            <a:r>
              <a:rPr sz="2800"/>
              <a:t>IoT applications.</a:t>
            </a:r>
            <a:endParaRPr sz="2800"/>
          </a:p>
          <a:p>
            <a:endParaRPr sz="2800"/>
          </a:p>
          <a:p>
            <a:r>
              <a:rPr sz="2800"/>
              <a:t>Example: Real-time sensor data storage for smart devices.</a:t>
            </a:r>
            <a:endParaRPr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735" y="725170"/>
            <a:ext cx="8229600" cy="582613"/>
          </a:xfrm>
        </p:spPr>
        <p:txBody>
          <a:bodyPr/>
          <a:lstStyle/>
          <a:p>
            <a:r>
              <a:rPr sz="2800"/>
              <a:t>MongoDB Architecture – Core Components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860" y="1067435"/>
            <a:ext cx="7517130" cy="4953000"/>
          </a:xfrm>
        </p:spPr>
        <p:txBody>
          <a:bodyPr/>
          <a:lstStyle/>
          <a:p>
            <a:endParaRPr sz="2400"/>
          </a:p>
          <a:p>
            <a:r>
              <a:rPr sz="2400"/>
              <a:t>Database → Collection of data.</a:t>
            </a:r>
            <a:endParaRPr sz="2400"/>
          </a:p>
          <a:p>
            <a:r>
              <a:rPr sz="2400"/>
              <a:t>Collection → Group of documents.</a:t>
            </a:r>
            <a:endParaRPr sz="2400"/>
          </a:p>
          <a:p>
            <a:r>
              <a:rPr sz="2400"/>
              <a:t>Document → JSON-like data record.</a:t>
            </a:r>
            <a:endParaRPr sz="2400"/>
          </a:p>
          <a:p>
            <a:r>
              <a:rPr sz="2400"/>
              <a:t>Replica Set → High availability.</a:t>
            </a:r>
            <a:endParaRPr sz="2400"/>
          </a:p>
          <a:p>
            <a:r>
              <a:rPr sz="2400"/>
              <a:t>Shard → Horizontal scaling.</a:t>
            </a:r>
            <a:endParaRPr sz="2400"/>
          </a:p>
          <a:p>
            <a:endParaRPr sz="2400"/>
          </a:p>
          <a:p>
            <a:r>
              <a:rPr sz="2400"/>
              <a:t>Example: Sharding user data across servers for large applications.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1020" y="724535"/>
            <a:ext cx="8229600" cy="582613"/>
          </a:xfrm>
        </p:spPr>
        <p:txBody>
          <a:bodyPr/>
          <a:lstStyle/>
          <a:p>
            <a:r>
              <a:rPr sz="2800"/>
              <a:t>MongoDB Document Structure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4750"/>
            <a:ext cx="6938645" cy="4953000"/>
          </a:xfrm>
        </p:spPr>
        <p:txBody>
          <a:bodyPr/>
          <a:lstStyle/>
          <a:p>
            <a:endParaRPr sz="2400"/>
          </a:p>
          <a:p>
            <a:r>
              <a:rPr sz="2400"/>
              <a:t>Key–value pairs.</a:t>
            </a:r>
            <a:endParaRPr sz="2400"/>
          </a:p>
          <a:p>
            <a:r>
              <a:rPr sz="2400"/>
              <a:t>Nested documents.</a:t>
            </a:r>
            <a:endParaRPr sz="2400"/>
          </a:p>
          <a:p>
            <a:r>
              <a:rPr sz="2400"/>
              <a:t>Arrays supported.</a:t>
            </a:r>
            <a:endParaRPr sz="2400"/>
          </a:p>
          <a:p>
            <a:r>
              <a:rPr sz="2400"/>
              <a:t>Dynamic fields allowed.</a:t>
            </a:r>
            <a:endParaRPr sz="2400"/>
          </a:p>
          <a:p>
            <a:endParaRPr sz="2400"/>
          </a:p>
          <a:p>
            <a:r>
              <a:rPr sz="2400"/>
              <a:t>Example: Order document with embedded product list.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3955" y="1000760"/>
            <a:ext cx="8229600" cy="582613"/>
          </a:xfrm>
        </p:spPr>
        <p:txBody>
          <a:bodyPr/>
          <a:lstStyle/>
          <a:p>
            <a:r>
              <a:rPr sz="2800"/>
              <a:t>What is Mongoose?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410" y="1905000"/>
            <a:ext cx="8229600" cy="4953000"/>
          </a:xfrm>
        </p:spPr>
        <p:txBody>
          <a:bodyPr/>
          <a:lstStyle/>
          <a:p>
            <a:endParaRPr sz="2400"/>
          </a:p>
          <a:p>
            <a:r>
              <a:rPr sz="2400"/>
              <a:t>Mongoose is an Object Data Modeling (ODM) library for MongoDB and Node.js.</a:t>
            </a:r>
            <a:endParaRPr sz="2400"/>
          </a:p>
          <a:p>
            <a:r>
              <a:rPr sz="2400"/>
              <a:t>Provides a higher-level abstraction over MongoDB.</a:t>
            </a:r>
            <a:endParaRPr sz="2400"/>
          </a:p>
          <a:p>
            <a:r>
              <a:rPr sz="2400"/>
              <a:t>Example: Defining schemas and models in Node.js.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3280" y="773430"/>
            <a:ext cx="8229600" cy="582613"/>
          </a:xfrm>
        </p:spPr>
        <p:txBody>
          <a:bodyPr/>
          <a:lstStyle/>
          <a:p>
            <a:r>
              <a:rPr sz="3200"/>
              <a:t>Why Use Mongoose?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320" y="1356360"/>
            <a:ext cx="8229600" cy="4953000"/>
          </a:xfrm>
        </p:spPr>
        <p:txBody>
          <a:bodyPr/>
          <a:lstStyle/>
          <a:p>
            <a:endParaRPr sz="2400"/>
          </a:p>
          <a:p>
            <a:r>
              <a:rPr sz="2400"/>
              <a:t>Schema validation.</a:t>
            </a:r>
            <a:endParaRPr sz="2400"/>
          </a:p>
          <a:p>
            <a:r>
              <a:rPr sz="2400"/>
              <a:t>Middleware support.</a:t>
            </a:r>
            <a:endParaRPr sz="2400"/>
          </a:p>
          <a:p>
            <a:r>
              <a:rPr sz="2400"/>
              <a:t>Model-based data interaction.</a:t>
            </a:r>
            <a:endParaRPr sz="2400"/>
          </a:p>
          <a:p>
            <a:r>
              <a:rPr sz="2400"/>
              <a:t>Relationship handling (population).</a:t>
            </a:r>
            <a:endParaRPr sz="2400"/>
          </a:p>
          <a:p>
            <a:r>
              <a:rPr sz="2400"/>
              <a:t>Example: Automatically validating email format before saving user.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2775" y="773430"/>
            <a:ext cx="8229600" cy="582613"/>
          </a:xfrm>
        </p:spPr>
        <p:txBody>
          <a:bodyPr/>
          <a:lstStyle/>
          <a:p>
            <a:r>
              <a:rPr sz="2800"/>
              <a:t>MongoDB vs Mongoose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55445"/>
            <a:ext cx="7063105" cy="4953000"/>
          </a:xfrm>
        </p:spPr>
        <p:txBody>
          <a:bodyPr/>
          <a:lstStyle/>
          <a:p>
            <a:endParaRPr sz="2400"/>
          </a:p>
          <a:p>
            <a:r>
              <a:rPr sz="2400"/>
              <a:t>MongoDB → Native database, no validation by default, raw queries.</a:t>
            </a:r>
            <a:endParaRPr sz="2400"/>
          </a:p>
          <a:p>
            <a:r>
              <a:rPr sz="2400"/>
              <a:t>Mongoose → ODM layer, strong validation, structured models.</a:t>
            </a:r>
            <a:endParaRPr sz="2400"/>
          </a:p>
          <a:p>
            <a:r>
              <a:rPr sz="2400"/>
              <a:t>Example: Using Mongoose schemas instead of raw MongoDB inserts.</a:t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6840" y="502285"/>
            <a:ext cx="8229600" cy="582613"/>
          </a:xfrm>
        </p:spPr>
        <p:txBody>
          <a:bodyPr/>
          <a:lstStyle/>
          <a:p>
            <a:r>
              <a:rPr sz="2800"/>
              <a:t>What is a Schema?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4750"/>
            <a:ext cx="6920230" cy="4953000"/>
          </a:xfrm>
        </p:spPr>
        <p:txBody>
          <a:bodyPr/>
          <a:lstStyle/>
          <a:p>
            <a:endParaRPr sz="2400"/>
          </a:p>
          <a:p>
            <a:r>
              <a:rPr sz="2400"/>
              <a:t>A schema defines the structure of documents.</a:t>
            </a:r>
            <a:endParaRPr sz="2400"/>
          </a:p>
          <a:p>
            <a:r>
              <a:rPr sz="2400"/>
              <a:t>Specifies data types.</a:t>
            </a:r>
            <a:endParaRPr sz="2400"/>
          </a:p>
          <a:p>
            <a:r>
              <a:rPr sz="2400"/>
              <a:t>Defines validation rules.</a:t>
            </a:r>
            <a:endParaRPr sz="2400"/>
          </a:p>
          <a:p>
            <a:r>
              <a:rPr sz="2400"/>
              <a:t>Defines default values.</a:t>
            </a:r>
            <a:endParaRPr sz="2400"/>
          </a:p>
          <a:p>
            <a:r>
              <a:rPr sz="2400"/>
              <a:t>Example: User schema with name, email, and createdAt fields.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9485" y="528955"/>
            <a:ext cx="8229600" cy="582613"/>
          </a:xfrm>
        </p:spPr>
        <p:txBody>
          <a:bodyPr/>
          <a:lstStyle/>
          <a:p>
            <a:r>
              <a:rPr sz="2800"/>
              <a:t>Schema Design Principles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4750"/>
            <a:ext cx="6787515" cy="4953000"/>
          </a:xfrm>
        </p:spPr>
        <p:txBody>
          <a:bodyPr/>
          <a:lstStyle/>
          <a:p>
            <a:endParaRPr sz="2400"/>
          </a:p>
          <a:p>
            <a:r>
              <a:rPr sz="2400"/>
              <a:t>Embed when data is frequently accessed together.</a:t>
            </a:r>
            <a:endParaRPr sz="2400"/>
          </a:p>
          <a:p>
            <a:r>
              <a:rPr sz="2400"/>
              <a:t>Reference when data grows independently.</a:t>
            </a:r>
            <a:endParaRPr sz="2400"/>
          </a:p>
          <a:p>
            <a:r>
              <a:rPr sz="2400"/>
              <a:t>Optimize for read performance.</a:t>
            </a:r>
            <a:endParaRPr sz="2400"/>
          </a:p>
          <a:p>
            <a:r>
              <a:rPr sz="2400"/>
              <a:t>Avoid over-normalization.</a:t>
            </a:r>
            <a:endParaRPr sz="2400"/>
          </a:p>
          <a:p>
            <a:r>
              <a:rPr sz="2400"/>
              <a:t>Example: Embed address inside user, reference orders separately.</a:t>
            </a:r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5680" y="493395"/>
            <a:ext cx="8229600" cy="582613"/>
          </a:xfrm>
        </p:spPr>
        <p:txBody>
          <a:bodyPr/>
          <a:lstStyle/>
          <a:p>
            <a:r>
              <a:rPr sz="2400"/>
              <a:t>Common MongoDB Data Types</a:t>
            </a:r>
            <a:endParaRPr sz="2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0560" y="1174750"/>
            <a:ext cx="7366635" cy="4953000"/>
          </a:xfrm>
        </p:spPr>
        <p:txBody>
          <a:bodyPr/>
          <a:lstStyle/>
          <a:p>
            <a:endParaRPr sz="2400"/>
          </a:p>
          <a:p>
            <a:r>
              <a:rPr sz="2400"/>
              <a:t>String.</a:t>
            </a:r>
            <a:endParaRPr sz="2400"/>
          </a:p>
          <a:p>
            <a:r>
              <a:rPr sz="2400"/>
              <a:t>Number.</a:t>
            </a:r>
            <a:endParaRPr sz="2400"/>
          </a:p>
          <a:p>
            <a:r>
              <a:rPr sz="2400"/>
              <a:t>Boolean.</a:t>
            </a:r>
            <a:endParaRPr sz="2400"/>
          </a:p>
          <a:p>
            <a:r>
              <a:rPr sz="2400"/>
              <a:t>Date.</a:t>
            </a:r>
            <a:endParaRPr sz="2400"/>
          </a:p>
          <a:p>
            <a:r>
              <a:rPr sz="2400"/>
              <a:t>Array.</a:t>
            </a:r>
            <a:endParaRPr sz="2400"/>
          </a:p>
          <a:p>
            <a:r>
              <a:rPr sz="2400"/>
              <a:t>ObjectId.</a:t>
            </a:r>
            <a:endParaRPr sz="2400"/>
          </a:p>
          <a:p>
            <a:endParaRPr sz="2400"/>
          </a:p>
          <a:p>
            <a:r>
              <a:rPr sz="2400"/>
              <a:t>Example: ObjectId used to reference another collection.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4590" y="492760"/>
            <a:ext cx="8229600" cy="582613"/>
          </a:xfrm>
        </p:spPr>
        <p:txBody>
          <a:bodyPr/>
          <a:lstStyle/>
          <a:p>
            <a:r>
              <a:t>What is a Model?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4750"/>
            <a:ext cx="7081520" cy="4953000"/>
          </a:xfrm>
        </p:spPr>
        <p:txBody>
          <a:bodyPr/>
          <a:lstStyle/>
          <a:p>
            <a:endParaRPr sz="2800"/>
          </a:p>
          <a:p>
            <a:r>
              <a:rPr sz="2800"/>
              <a:t>A model is a compiled version of a schema.</a:t>
            </a:r>
            <a:endParaRPr sz="2800"/>
          </a:p>
          <a:p>
            <a:r>
              <a:rPr sz="2800"/>
              <a:t>Represents a MongoDB collection.</a:t>
            </a:r>
            <a:endParaRPr sz="2800"/>
          </a:p>
          <a:p>
            <a:r>
              <a:rPr sz="2800"/>
              <a:t>Acts as an interface to the database.</a:t>
            </a:r>
            <a:endParaRPr sz="2800"/>
          </a:p>
          <a:p>
            <a:r>
              <a:rPr sz="2800"/>
              <a:t>Example: User model interacting with users collection.</a:t>
            </a:r>
            <a:endParaRPr sz="2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8680" y="773430"/>
            <a:ext cx="8229600" cy="582613"/>
          </a:xfrm>
        </p:spPr>
        <p:txBody>
          <a:bodyPr/>
          <a:lstStyle/>
          <a:p>
            <a:r>
              <a:rPr sz="2800"/>
              <a:t>Role of Models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4990" y="1356360"/>
            <a:ext cx="6795770" cy="4953000"/>
          </a:xfrm>
        </p:spPr>
        <p:txBody>
          <a:bodyPr/>
          <a:lstStyle/>
          <a:p>
            <a:endParaRPr sz="2400"/>
          </a:p>
          <a:p>
            <a:r>
              <a:rPr sz="2400"/>
              <a:t>Perform CRUD operations.</a:t>
            </a:r>
            <a:endParaRPr sz="2400"/>
          </a:p>
          <a:p>
            <a:r>
              <a:rPr sz="2400"/>
              <a:t>Enforce schema validation.</a:t>
            </a:r>
            <a:endParaRPr sz="2400"/>
          </a:p>
          <a:p>
            <a:r>
              <a:rPr sz="2400"/>
              <a:t>Abstract database logic.</a:t>
            </a:r>
            <a:endParaRPr sz="2400"/>
          </a:p>
          <a:p>
            <a:r>
              <a:rPr sz="2400"/>
              <a:t>Maintain consistency.</a:t>
            </a:r>
            <a:endParaRPr sz="2400"/>
          </a:p>
          <a:p>
            <a:r>
              <a:rPr sz="2400"/>
              <a:t>Example: UserModel.create(), UserModel.find().</a:t>
            </a:r>
            <a:endParaRPr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0615" y="511175"/>
            <a:ext cx="8229600" cy="582613"/>
          </a:xfrm>
        </p:spPr>
        <p:txBody>
          <a:bodyPr/>
          <a:lstStyle/>
          <a:p>
            <a:r>
              <a:rPr sz="2800"/>
              <a:t>Model Responsibilities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4770"/>
            <a:ext cx="8229600" cy="4953000"/>
          </a:xfrm>
        </p:spPr>
        <p:txBody>
          <a:bodyPr/>
          <a:lstStyle/>
          <a:p>
            <a:endParaRPr sz="2400"/>
          </a:p>
          <a:p>
            <a:r>
              <a:rPr sz="2400"/>
              <a:t>Create documents.</a:t>
            </a:r>
            <a:endParaRPr sz="2400"/>
          </a:p>
          <a:p>
            <a:r>
              <a:rPr sz="2400"/>
              <a:t>Read data.</a:t>
            </a:r>
            <a:endParaRPr sz="2400"/>
          </a:p>
          <a:p>
            <a:r>
              <a:rPr sz="2400"/>
              <a:t>Update records.</a:t>
            </a:r>
            <a:endParaRPr sz="2400"/>
          </a:p>
          <a:p>
            <a:r>
              <a:rPr sz="2400"/>
              <a:t>Delete records.</a:t>
            </a:r>
            <a:endParaRPr sz="2400"/>
          </a:p>
          <a:p>
            <a:r>
              <a:rPr sz="2400"/>
              <a:t>Example: CRUD APIs for employee records.</a:t>
            </a:r>
            <a:endParaRPr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5025" y="243840"/>
            <a:ext cx="8051165" cy="582930"/>
          </a:xfrm>
        </p:spPr>
        <p:txBody>
          <a:bodyPr/>
          <a:lstStyle/>
          <a:p>
            <a:r>
              <a:rPr sz="2800"/>
              <a:t>Database Connection Overview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4750"/>
            <a:ext cx="7828915" cy="4632325"/>
          </a:xfrm>
        </p:spPr>
        <p:txBody>
          <a:bodyPr/>
          <a:lstStyle/>
          <a:p>
            <a:endParaRPr sz="2400"/>
          </a:p>
          <a:p>
            <a:r>
              <a:rPr sz="2400"/>
              <a:t>Backend server connects to MongoDB using MongoDB URI.</a:t>
            </a:r>
            <a:endParaRPr sz="2400"/>
          </a:p>
          <a:p>
            <a:r>
              <a:rPr sz="2400"/>
              <a:t>Uses authentication credentials.</a:t>
            </a:r>
            <a:endParaRPr sz="2400"/>
          </a:p>
          <a:p>
            <a:r>
              <a:rPr sz="2400"/>
              <a:t>Uses connection options.</a:t>
            </a:r>
            <a:endParaRPr sz="2400"/>
          </a:p>
          <a:p>
            <a:r>
              <a:rPr sz="2400"/>
              <a:t>Example: mongodb+srv://user:pass@cluster.mongodb.net/db</a:t>
            </a:r>
            <a:endParaRPr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115" y="697865"/>
            <a:ext cx="8229600" cy="582613"/>
          </a:xfrm>
        </p:spPr>
        <p:txBody>
          <a:bodyPr/>
          <a:lstStyle/>
          <a:p>
            <a:r>
              <a:rPr sz="2400"/>
              <a:t>Production vs Development Databases</a:t>
            </a:r>
            <a:endParaRPr sz="2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1650"/>
            <a:ext cx="6475730" cy="4953000"/>
          </a:xfrm>
        </p:spPr>
        <p:txBody>
          <a:bodyPr/>
          <a:lstStyle/>
          <a:p>
            <a:endParaRPr sz="2400"/>
          </a:p>
          <a:p>
            <a:r>
              <a:rPr sz="2400"/>
              <a:t>Development → Local MongoDB.</a:t>
            </a:r>
            <a:endParaRPr sz="2400"/>
          </a:p>
          <a:p>
            <a:r>
              <a:rPr sz="2400"/>
              <a:t>Production → MongoDB Atlas.</a:t>
            </a:r>
            <a:endParaRPr sz="2400"/>
          </a:p>
          <a:p>
            <a:endParaRPr sz="2400"/>
          </a:p>
          <a:p>
            <a:r>
              <a:rPr sz="2400"/>
              <a:t>Example: Localhost for dev, cloud cluster for live app.</a:t>
            </a:r>
            <a:endParaRPr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190" y="364490"/>
            <a:ext cx="8229600" cy="582613"/>
          </a:xfrm>
        </p:spPr>
        <p:txBody>
          <a:bodyPr/>
          <a:lstStyle/>
          <a:p>
            <a:r>
              <a:t>RESTful API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4090" y="1495425"/>
            <a:ext cx="6288405" cy="49530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en-GB" sz="1800"/>
              <a:t>REST = Representational State Transfer</a:t>
            </a:r>
            <a:endParaRPr lang="en-US" altLang="en-GB" sz="1800"/>
          </a:p>
          <a:p>
            <a:pPr>
              <a:lnSpc>
                <a:spcPct val="100000"/>
              </a:lnSpc>
            </a:pPr>
            <a:endParaRPr lang="en-US" altLang="en-GB" sz="1800"/>
          </a:p>
          <a:p>
            <a:pPr>
              <a:lnSpc>
                <a:spcPct val="100000"/>
              </a:lnSpc>
            </a:pPr>
            <a:r>
              <a:rPr lang="en-US" altLang="en-GB" sz="1800"/>
              <a:t>Architecture style for designing APIs</a:t>
            </a:r>
            <a:endParaRPr lang="en-US" altLang="en-GB" sz="1800"/>
          </a:p>
          <a:p>
            <a:pPr>
              <a:lnSpc>
                <a:spcPct val="100000"/>
              </a:lnSpc>
            </a:pPr>
            <a:endParaRPr lang="en-US" altLang="en-GB" sz="1800"/>
          </a:p>
          <a:p>
            <a:pPr>
              <a:lnSpc>
                <a:spcPct val="100000"/>
              </a:lnSpc>
            </a:pPr>
            <a:r>
              <a:rPr lang="en-US" altLang="en-GB" sz="1800"/>
              <a:t>Uses HTTP protocol for communication</a:t>
            </a:r>
            <a:endParaRPr lang="en-US" altLang="en-GB" sz="1800"/>
          </a:p>
          <a:p>
            <a:pPr>
              <a:lnSpc>
                <a:spcPct val="100000"/>
              </a:lnSpc>
            </a:pPr>
            <a:endParaRPr lang="en-US" altLang="en-GB" sz="1800"/>
          </a:p>
          <a:p>
            <a:pPr>
              <a:lnSpc>
                <a:spcPct val="100000"/>
              </a:lnSpc>
            </a:pPr>
            <a:r>
              <a:rPr lang="en-US" altLang="en-GB" sz="1800"/>
              <a:t>Client–Server, Stateless, Resource-based communication</a:t>
            </a:r>
            <a:endParaRPr lang="en-US" altLang="en-GB" sz="1800"/>
          </a:p>
          <a:p>
            <a:pPr>
              <a:lnSpc>
                <a:spcPct val="100000"/>
              </a:lnSpc>
            </a:pPr>
            <a:endParaRPr lang="en-US" altLang="en-GB" sz="1800"/>
          </a:p>
          <a:p>
            <a:pPr marL="0" indent="0">
              <a:lnSpc>
                <a:spcPct val="100000"/>
              </a:lnSpc>
              <a:buNone/>
            </a:pPr>
            <a:endParaRPr lang="en-US" altLang="en-GB"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0615" y="270510"/>
            <a:ext cx="8229600" cy="582613"/>
          </a:xfrm>
        </p:spPr>
        <p:txBody>
          <a:bodyPr/>
          <a:p>
            <a:r>
              <a:rPr lang="en-IN" altLang="en-GB" sz="2800"/>
              <a:t>Core Rest Principles </a:t>
            </a:r>
            <a:endParaRPr lang="en-IN" altLang="en-GB"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320" y="1050290"/>
            <a:ext cx="8229600" cy="4953000"/>
          </a:xfrm>
        </p:spPr>
        <p:txBody>
          <a:bodyPr/>
          <a:p>
            <a:pPr marL="0" indent="0">
              <a:lnSpc>
                <a:spcPct val="100000"/>
              </a:lnSpc>
              <a:buNone/>
            </a:pPr>
            <a:endParaRPr lang="en-US" altLang="en-GB" sz="1400" b="1"/>
          </a:p>
          <a:p>
            <a:pPr marL="0" indent="0">
              <a:lnSpc>
                <a:spcPct val="100000"/>
              </a:lnSpc>
              <a:buNone/>
            </a:pPr>
            <a:r>
              <a:rPr lang="en-US" altLang="en-GB" sz="1400" b="1">
                <a:sym typeface="+mn-ea"/>
              </a:rPr>
              <a:t>1</a:t>
            </a:r>
            <a:r>
              <a:rPr lang="en-US" altLang="en-US" sz="1400" b="1">
                <a:sym typeface="+mn-ea"/>
              </a:rPr>
              <a:t>️</a:t>
            </a:r>
            <a:r>
              <a:rPr lang="en-US" altLang="en-GB" sz="1400" b="1">
                <a:sym typeface="+mn-ea"/>
              </a:rPr>
              <a:t> Client–Server Separation</a:t>
            </a:r>
            <a:endParaRPr lang="en-US" altLang="en-GB" sz="1400" b="1"/>
          </a:p>
          <a:p>
            <a:pPr>
              <a:lnSpc>
                <a:spcPct val="100000"/>
              </a:lnSpc>
            </a:pPr>
            <a:r>
              <a:rPr lang="en-US" altLang="en-GB" sz="1400">
                <a:sym typeface="+mn-ea"/>
              </a:rPr>
              <a:t>Frontend &amp; backend act independently.</a:t>
            </a:r>
            <a:endParaRPr lang="en-US" altLang="en-GB" sz="1400"/>
          </a:p>
          <a:p>
            <a:pPr>
              <a:lnSpc>
                <a:spcPct val="100000"/>
              </a:lnSpc>
            </a:pPr>
            <a:endParaRPr lang="en-US" altLang="en-GB" sz="1400" b="1"/>
          </a:p>
          <a:p>
            <a:pPr marL="0" indent="0">
              <a:lnSpc>
                <a:spcPct val="100000"/>
              </a:lnSpc>
              <a:buNone/>
            </a:pPr>
            <a:r>
              <a:rPr lang="en-US" altLang="en-GB" sz="1400" b="1">
                <a:sym typeface="+mn-ea"/>
              </a:rPr>
              <a:t>2</a:t>
            </a:r>
            <a:r>
              <a:rPr lang="en-US" altLang="en-US" sz="1400" b="1">
                <a:sym typeface="+mn-ea"/>
              </a:rPr>
              <a:t>️</a:t>
            </a:r>
            <a:r>
              <a:rPr lang="en-US" altLang="en-GB" sz="1400" b="1">
                <a:sym typeface="+mn-ea"/>
              </a:rPr>
              <a:t>Stateless</a:t>
            </a:r>
            <a:endParaRPr lang="en-US" altLang="en-GB" sz="1400" b="1"/>
          </a:p>
          <a:p>
            <a:pPr>
              <a:lnSpc>
                <a:spcPct val="100000"/>
              </a:lnSpc>
            </a:pPr>
            <a:r>
              <a:rPr lang="en-US" altLang="en-GB" sz="1400">
                <a:sym typeface="+mn-ea"/>
              </a:rPr>
              <a:t>Each request is independent. Server does not remember previous requests.</a:t>
            </a:r>
            <a:endParaRPr lang="en-US" altLang="en-GB" sz="1400"/>
          </a:p>
          <a:p>
            <a:pPr>
              <a:lnSpc>
                <a:spcPct val="100000"/>
              </a:lnSpc>
            </a:pPr>
            <a:endParaRPr lang="en-US" altLang="en-GB" sz="1400" b="1"/>
          </a:p>
          <a:p>
            <a:pPr marL="0" indent="0">
              <a:lnSpc>
                <a:spcPct val="100000"/>
              </a:lnSpc>
              <a:buNone/>
            </a:pPr>
            <a:r>
              <a:rPr lang="en-US" altLang="en-GB" sz="1400" b="1">
                <a:sym typeface="+mn-ea"/>
              </a:rPr>
              <a:t>3</a:t>
            </a:r>
            <a:r>
              <a:rPr lang="en-US" altLang="en-US" sz="1400" b="1">
                <a:sym typeface="+mn-ea"/>
              </a:rPr>
              <a:t>️</a:t>
            </a:r>
            <a:r>
              <a:rPr lang="en-US" altLang="en-GB" sz="1400" b="1">
                <a:sym typeface="+mn-ea"/>
              </a:rPr>
              <a:t>Uniform Interface</a:t>
            </a:r>
            <a:endParaRPr lang="en-US" altLang="en-GB" sz="1400" b="1"/>
          </a:p>
          <a:p>
            <a:pPr>
              <a:lnSpc>
                <a:spcPct val="100000"/>
              </a:lnSpc>
            </a:pPr>
            <a:r>
              <a:rPr lang="en-US" altLang="en-GB" sz="1400">
                <a:sym typeface="+mn-ea"/>
              </a:rPr>
              <a:t>Standard way of accessing resources.</a:t>
            </a:r>
            <a:endParaRPr lang="en-US" altLang="en-GB" sz="1400"/>
          </a:p>
          <a:p>
            <a:pPr>
              <a:lnSpc>
                <a:spcPct val="100000"/>
              </a:lnSpc>
            </a:pPr>
            <a:endParaRPr lang="en-US" altLang="en-GB" sz="1400" b="1"/>
          </a:p>
          <a:p>
            <a:pPr marL="0" indent="0">
              <a:lnSpc>
                <a:spcPct val="100000"/>
              </a:lnSpc>
              <a:buNone/>
            </a:pPr>
            <a:r>
              <a:rPr lang="en-US" altLang="en-GB" sz="1400" b="1">
                <a:sym typeface="+mn-ea"/>
              </a:rPr>
              <a:t>4</a:t>
            </a:r>
            <a:r>
              <a:rPr lang="en-US" altLang="en-US" sz="1400" b="1">
                <a:sym typeface="+mn-ea"/>
              </a:rPr>
              <a:t>️</a:t>
            </a:r>
            <a:r>
              <a:rPr lang="en-US" altLang="en-GB" sz="1400" b="1">
                <a:sym typeface="+mn-ea"/>
              </a:rPr>
              <a:t>Resource-Based</a:t>
            </a:r>
            <a:endParaRPr lang="en-US" altLang="en-GB" sz="1400" b="1"/>
          </a:p>
          <a:p>
            <a:pPr>
              <a:lnSpc>
                <a:spcPct val="100000"/>
              </a:lnSpc>
            </a:pPr>
            <a:r>
              <a:rPr lang="en-US" altLang="en-GB" sz="1400">
                <a:sym typeface="+mn-ea"/>
              </a:rPr>
              <a:t>Everything is a resource </a:t>
            </a:r>
            <a:r>
              <a:rPr lang="en-US" altLang="en-US" sz="1400">
                <a:sym typeface="+mn-ea"/>
              </a:rPr>
              <a:t>→</a:t>
            </a:r>
            <a:r>
              <a:rPr lang="en-US" altLang="en-GB" sz="1400">
                <a:sym typeface="+mn-ea"/>
              </a:rPr>
              <a:t> users, products, posts etc.</a:t>
            </a:r>
            <a:endParaRPr lang="en-US" altLang="en-GB" sz="1400"/>
          </a:p>
          <a:p>
            <a:pPr>
              <a:lnSpc>
                <a:spcPct val="100000"/>
              </a:lnSpc>
            </a:pPr>
            <a:endParaRPr lang="en-US" altLang="en-GB" sz="1400" b="1"/>
          </a:p>
          <a:p>
            <a:pPr marL="0" indent="0">
              <a:lnSpc>
                <a:spcPct val="100000"/>
              </a:lnSpc>
              <a:buNone/>
            </a:pPr>
            <a:r>
              <a:rPr lang="en-US" altLang="en-GB" sz="1400" b="1">
                <a:sym typeface="+mn-ea"/>
              </a:rPr>
              <a:t>5</a:t>
            </a:r>
            <a:r>
              <a:rPr lang="en-US" altLang="en-US" sz="1400" b="1">
                <a:sym typeface="+mn-ea"/>
              </a:rPr>
              <a:t>️</a:t>
            </a:r>
            <a:r>
              <a:rPr lang="en-US" altLang="en-GB" sz="1400" b="1">
                <a:sym typeface="+mn-ea"/>
              </a:rPr>
              <a:t>Representation of Resources</a:t>
            </a:r>
            <a:endParaRPr lang="en-US" altLang="en-GB" sz="1400" b="1"/>
          </a:p>
          <a:p>
            <a:pPr marL="0" indent="0">
              <a:lnSpc>
                <a:spcPct val="100000"/>
              </a:lnSpc>
              <a:buNone/>
            </a:pPr>
            <a:r>
              <a:rPr lang="en-US" altLang="en-GB" sz="1400">
                <a:sym typeface="+mn-ea"/>
              </a:rPr>
              <a:t>Resources returned as:</a:t>
            </a:r>
            <a:endParaRPr lang="en-US" altLang="en-GB" sz="1400"/>
          </a:p>
          <a:p>
            <a:pPr>
              <a:lnSpc>
                <a:spcPct val="100000"/>
              </a:lnSpc>
            </a:pPr>
            <a:r>
              <a:rPr lang="en-US" altLang="en-GB" sz="1400">
                <a:sym typeface="+mn-ea"/>
              </a:rPr>
              <a:t>JSON (most common)</a:t>
            </a:r>
            <a:endParaRPr lang="en-US" altLang="en-GB" sz="1400"/>
          </a:p>
          <a:p>
            <a:pPr>
              <a:lnSpc>
                <a:spcPct val="100000"/>
              </a:lnSpc>
            </a:pPr>
            <a:r>
              <a:rPr lang="en-US" altLang="en-GB" sz="1400">
                <a:sym typeface="+mn-ea"/>
              </a:rPr>
              <a:t>XML (older)</a:t>
            </a:r>
            <a:endParaRPr lang="en-US" altLang="en-GB" sz="1400"/>
          </a:p>
          <a:p>
            <a:pPr>
              <a:lnSpc>
                <a:spcPct val="100000"/>
              </a:lnSpc>
            </a:pPr>
            <a:endParaRPr lang="en-US" altLang="en-GB" sz="1400"/>
          </a:p>
          <a:p>
            <a:pPr marL="0" indent="0">
              <a:lnSpc>
                <a:spcPct val="100000"/>
              </a:lnSpc>
              <a:buNone/>
            </a:pPr>
            <a:r>
              <a:rPr lang="en-US" altLang="en-GB" sz="1400" b="1">
                <a:sym typeface="+mn-ea"/>
              </a:rPr>
              <a:t>6</a:t>
            </a:r>
            <a:r>
              <a:rPr lang="en-US" altLang="en-US" sz="1400" b="1">
                <a:sym typeface="+mn-ea"/>
              </a:rPr>
              <a:t>️</a:t>
            </a:r>
            <a:r>
              <a:rPr lang="en-US" altLang="en-GB" sz="1400" b="1">
                <a:sym typeface="+mn-ea"/>
              </a:rPr>
              <a:t> Layered System</a:t>
            </a:r>
            <a:endParaRPr lang="en-US" altLang="en-GB" sz="1400" b="1"/>
          </a:p>
          <a:p>
            <a:pPr>
              <a:lnSpc>
                <a:spcPct val="100000"/>
              </a:lnSpc>
            </a:pPr>
            <a:r>
              <a:rPr lang="en-US" altLang="en-GB" sz="1400">
                <a:sym typeface="+mn-ea"/>
              </a:rPr>
              <a:t>API can have layers like auth, gateway, caching.</a:t>
            </a:r>
            <a:endParaRPr lang="en-US" altLang="en-GB" sz="1400"/>
          </a:p>
          <a:p>
            <a:endParaRPr lang="en-GB" altLang="en-US" sz="1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9685" y="430530"/>
            <a:ext cx="8229600" cy="582613"/>
          </a:xfrm>
        </p:spPr>
        <p:txBody>
          <a:bodyPr/>
          <a:p>
            <a:r>
              <a:rPr lang="en-IN" altLang="en-GB"/>
              <a:t>Rest in Security </a:t>
            </a:r>
            <a:endParaRPr lang="en-IN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en-US" altLang="en-GB" sz="2000"/>
          </a:p>
          <a:p>
            <a:r>
              <a:rPr lang="en-US" altLang="en-GB" sz="2000"/>
              <a:t>Token Based Authentication</a:t>
            </a:r>
            <a:endParaRPr lang="en-US" altLang="en-GB" sz="2000"/>
          </a:p>
          <a:p>
            <a:endParaRPr lang="en-US" altLang="en-GB" sz="2000"/>
          </a:p>
          <a:p>
            <a:r>
              <a:rPr lang="en-US" altLang="en-GB" sz="2000"/>
              <a:t>JWT</a:t>
            </a:r>
            <a:endParaRPr lang="en-US" altLang="en-GB" sz="2000"/>
          </a:p>
          <a:p>
            <a:endParaRPr lang="en-US" altLang="en-GB" sz="2000"/>
          </a:p>
          <a:p>
            <a:r>
              <a:rPr lang="en-US" altLang="en-GB" sz="2000"/>
              <a:t>API Keys</a:t>
            </a:r>
            <a:endParaRPr lang="en-US" altLang="en-GB" sz="2000"/>
          </a:p>
          <a:p>
            <a:endParaRPr lang="en-US" altLang="en-GB" sz="2000"/>
          </a:p>
          <a:p>
            <a:r>
              <a:rPr lang="en-US" altLang="en-GB" sz="2000"/>
              <a:t>HTTPS</a:t>
            </a:r>
            <a:endParaRPr lang="en-US" altLang="en-GB" sz="2000"/>
          </a:p>
          <a:p>
            <a:endParaRPr lang="en-US" altLang="en-GB" sz="2000"/>
          </a:p>
          <a:p>
            <a:r>
              <a:rPr lang="en-US" altLang="en-GB" sz="2000"/>
              <a:t>Role-based access</a:t>
            </a:r>
            <a:endParaRPr lang="en-US" altLang="en-GB"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4590" y="511175"/>
            <a:ext cx="8229600" cy="582613"/>
          </a:xfrm>
        </p:spPr>
        <p:txBody>
          <a:bodyPr/>
          <a:lstStyle/>
          <a:p>
            <a:r>
              <a:rPr sz="2800"/>
              <a:t>HTTP Methods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15" y="1477645"/>
            <a:ext cx="8229600" cy="4953000"/>
          </a:xfrm>
        </p:spPr>
        <p:txBody>
          <a:bodyPr/>
          <a:lstStyle/>
          <a:p>
            <a:endParaRPr sz="2000"/>
          </a:p>
          <a:p>
            <a:r>
              <a:rPr sz="2000"/>
              <a:t>GET – Fetch data.</a:t>
            </a:r>
            <a:endParaRPr sz="2000"/>
          </a:p>
          <a:p>
            <a:r>
              <a:rPr sz="2000"/>
              <a:t>POST – Create data.</a:t>
            </a:r>
            <a:endParaRPr sz="2000"/>
          </a:p>
          <a:p>
            <a:r>
              <a:rPr sz="2000"/>
              <a:t>PUT – Update full data.</a:t>
            </a:r>
            <a:endParaRPr sz="2000"/>
          </a:p>
          <a:p>
            <a:r>
              <a:rPr sz="2000"/>
              <a:t>PATCH – Update partial data.</a:t>
            </a:r>
            <a:endParaRPr sz="2000"/>
          </a:p>
          <a:p>
            <a:r>
              <a:rPr sz="2000"/>
              <a:t>DELETE – Remove data.</a:t>
            </a:r>
            <a:endParaRPr sz="2000"/>
          </a:p>
          <a:p>
            <a:endParaRPr sz="2000"/>
          </a:p>
          <a:p>
            <a:r>
              <a:rPr sz="2000"/>
              <a:t>Example: GET /employees, POST /employees.</a:t>
            </a:r>
            <a:endParaRPr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9445" y="591820"/>
            <a:ext cx="8229600" cy="582613"/>
          </a:xfrm>
        </p:spPr>
        <p:txBody>
          <a:bodyPr/>
          <a:lstStyle/>
          <a:p>
            <a:r>
              <a:rPr sz="2800"/>
              <a:t>HTTP Status Codes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435" y="1584325"/>
            <a:ext cx="8034020" cy="4543425"/>
          </a:xfrm>
        </p:spPr>
        <p:txBody>
          <a:bodyPr/>
          <a:lstStyle/>
          <a:p>
            <a:r>
              <a:rPr lang="en-IN" sz="2000"/>
              <a:t>Code                                Meaning</a:t>
            </a:r>
            <a:endParaRPr lang="en-IN" sz="2000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076325" y="1768475"/>
          <a:ext cx="6021070" cy="4185920"/>
        </p:xfrm>
        <a:graphic>
          <a:graphicData uri="http://schemas.openxmlformats.org/drawingml/2006/table">
            <a:tbl>
              <a:tblPr/>
              <a:tblGrid>
                <a:gridCol w="3010535"/>
                <a:gridCol w="3010535"/>
              </a:tblGrid>
              <a:tr h="523240"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3240">
                <a:tc>
                  <a:txBody>
                    <a:bodyPr/>
                    <a:p>
                      <a:r>
                        <a:rPr sz="1800"/>
                        <a:t>200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Success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3240">
                <a:tc>
                  <a:txBody>
                    <a:bodyPr/>
                    <a:p>
                      <a:r>
                        <a:rPr sz="1800"/>
                        <a:t>201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Created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3240">
                <a:tc>
                  <a:txBody>
                    <a:bodyPr/>
                    <a:p>
                      <a:r>
                        <a:rPr sz="1800"/>
                        <a:t>400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Bad Request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3240">
                <a:tc>
                  <a:txBody>
                    <a:bodyPr/>
                    <a:p>
                      <a:r>
                        <a:rPr sz="1800"/>
                        <a:t>401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Unauthorized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3240">
                <a:tc>
                  <a:txBody>
                    <a:bodyPr/>
                    <a:p>
                      <a:r>
                        <a:rPr sz="1800"/>
                        <a:t>403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Forbidden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3240">
                <a:tc>
                  <a:txBody>
                    <a:bodyPr/>
                    <a:p>
                      <a:r>
                        <a:rPr sz="1800"/>
                        <a:t>404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Not Found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3240">
                <a:tc>
                  <a:txBody>
                    <a:bodyPr/>
                    <a:p>
                      <a:r>
                        <a:rPr sz="1800"/>
                        <a:t>500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Server Error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4205" y="0"/>
            <a:ext cx="8229600" cy="582613"/>
          </a:xfrm>
        </p:spPr>
        <p:txBody>
          <a:bodyPr/>
          <a:lstStyle/>
          <a:p>
            <a:r>
              <a:rPr sz="1800" b="1"/>
              <a:t>API Flow</a:t>
            </a:r>
            <a:endParaRPr sz="18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3390"/>
            <a:ext cx="8229600" cy="4953000"/>
          </a:xfrm>
        </p:spPr>
        <p:txBody>
          <a:bodyPr/>
          <a:lstStyle/>
          <a:p>
            <a:endParaRPr sz="1000"/>
          </a:p>
          <a:p>
            <a:r>
              <a:rPr sz="1000"/>
              <a:t>Frontend → API Request → Controller → Service → Model → Database → Response.</a:t>
            </a:r>
            <a:endParaRPr sz="1000"/>
          </a:p>
          <a:p>
            <a:endParaRPr sz="1000"/>
          </a:p>
          <a:p>
            <a:pPr marL="0" indent="0">
              <a:buNone/>
            </a:pPr>
            <a:r>
              <a:rPr lang="en-US" altLang="en-GB" sz="1000"/>
              <a:t>Example: Employee List Request from UI</a:t>
            </a:r>
            <a:endParaRPr lang="en-US" altLang="en-GB" sz="1000"/>
          </a:p>
          <a:p>
            <a:pPr marL="0" indent="0">
              <a:buNone/>
            </a:pPr>
            <a:endParaRPr lang="en-US" altLang="en-GB" sz="1000"/>
          </a:p>
          <a:p>
            <a:pPr marL="0" indent="0">
              <a:buNone/>
            </a:pPr>
            <a:r>
              <a:rPr lang="en-US" altLang="en-GB" sz="1000">
                <a:solidFill>
                  <a:srgbClr val="FF0000"/>
                </a:solidFill>
              </a:rPr>
              <a:t>Frontend (React UI)</a:t>
            </a:r>
            <a:endParaRPr lang="en-US" altLang="en-GB" sz="1000">
              <a:solidFill>
                <a:srgbClr val="FF0000"/>
              </a:solidFill>
            </a:endParaRPr>
          </a:p>
          <a:p>
            <a:r>
              <a:rPr lang="en-US" altLang="en-GB" sz="1000"/>
              <a:t>User opens Employee List page</a:t>
            </a:r>
            <a:endParaRPr lang="en-US" altLang="en-GB" sz="1000"/>
          </a:p>
          <a:p>
            <a:r>
              <a:rPr lang="en-US" altLang="en-GB" sz="1000"/>
              <a:t>React sends GET request </a:t>
            </a:r>
            <a:r>
              <a:rPr lang="en-US" altLang="en-US" sz="1000"/>
              <a:t>→</a:t>
            </a:r>
            <a:r>
              <a:rPr lang="en-US" altLang="en-GB" sz="1000"/>
              <a:t> /api/employees</a:t>
            </a:r>
            <a:endParaRPr lang="en-US" altLang="en-GB" sz="1000"/>
          </a:p>
          <a:p>
            <a:endParaRPr lang="en-US" altLang="en-GB" sz="1000"/>
          </a:p>
          <a:p>
            <a:pPr marL="0" indent="0">
              <a:buNone/>
            </a:pPr>
            <a:r>
              <a:rPr lang="en-US" altLang="en-GB" sz="1000">
                <a:solidFill>
                  <a:srgbClr val="FF0000"/>
                </a:solidFill>
              </a:rPr>
              <a:t>API Request</a:t>
            </a:r>
            <a:endParaRPr lang="en-US" altLang="en-GB" sz="1000">
              <a:solidFill>
                <a:srgbClr val="FF0000"/>
              </a:solidFill>
            </a:endParaRPr>
          </a:p>
          <a:p>
            <a:r>
              <a:rPr lang="en-US" altLang="en-GB" sz="1000"/>
              <a:t>HTTP Request hits backend</a:t>
            </a:r>
            <a:endParaRPr lang="en-US" altLang="en-GB" sz="1000"/>
          </a:p>
          <a:p>
            <a:r>
              <a:rPr lang="en-US" altLang="en-GB" sz="1000"/>
              <a:t>Contains method, URL, headers, params</a:t>
            </a:r>
            <a:endParaRPr lang="en-US" altLang="en-GB" sz="1000"/>
          </a:p>
          <a:p>
            <a:endParaRPr lang="en-US" altLang="en-GB" sz="1000"/>
          </a:p>
          <a:p>
            <a:pPr marL="0" indent="0">
              <a:buNone/>
            </a:pPr>
            <a:r>
              <a:rPr lang="en-US" altLang="en-GB" sz="1000">
                <a:solidFill>
                  <a:srgbClr val="FF0000"/>
                </a:solidFill>
              </a:rPr>
              <a:t>Controller Layer</a:t>
            </a:r>
            <a:endParaRPr lang="en-US" altLang="en-GB" sz="1000">
              <a:solidFill>
                <a:srgbClr val="FF0000"/>
              </a:solidFill>
            </a:endParaRPr>
          </a:p>
          <a:p>
            <a:r>
              <a:rPr lang="en-US" altLang="en-GB" sz="1000"/>
              <a:t>First backend entry point</a:t>
            </a:r>
            <a:endParaRPr lang="en-US" altLang="en-GB" sz="1000"/>
          </a:p>
          <a:p>
            <a:r>
              <a:rPr lang="en-US" altLang="en-GB" sz="1000"/>
              <a:t>Validates request</a:t>
            </a:r>
            <a:endParaRPr lang="en-US" altLang="en-GB" sz="1000"/>
          </a:p>
          <a:p>
            <a:r>
              <a:rPr lang="en-US" altLang="en-GB" sz="1000"/>
              <a:t>Calls Service layer</a:t>
            </a:r>
            <a:endParaRPr lang="en-US" altLang="en-GB" sz="1000"/>
          </a:p>
          <a:p>
            <a:endParaRPr lang="en-US" altLang="en-GB" sz="1000"/>
          </a:p>
          <a:p>
            <a:pPr marL="0" indent="0">
              <a:buNone/>
            </a:pPr>
            <a:r>
              <a:rPr lang="en-US" altLang="en-GB" sz="1000">
                <a:solidFill>
                  <a:srgbClr val="FF0000"/>
                </a:solidFill>
              </a:rPr>
              <a:t>Service Layer</a:t>
            </a:r>
            <a:endParaRPr lang="en-US" altLang="en-GB" sz="1000">
              <a:solidFill>
                <a:srgbClr val="FF0000"/>
              </a:solidFill>
            </a:endParaRPr>
          </a:p>
          <a:p>
            <a:r>
              <a:rPr lang="en-US" altLang="en-GB" sz="1000"/>
              <a:t>Business logic handled here</a:t>
            </a:r>
            <a:endParaRPr lang="en-US" altLang="en-GB" sz="1000"/>
          </a:p>
          <a:p>
            <a:r>
              <a:rPr lang="en-US" altLang="en-GB" sz="1000"/>
              <a:t>Calls Model to interact with DB</a:t>
            </a:r>
            <a:endParaRPr lang="en-US" altLang="en-GB" sz="1000"/>
          </a:p>
          <a:p>
            <a:endParaRPr lang="en-US" altLang="en-GB" sz="1000"/>
          </a:p>
          <a:p>
            <a:pPr marL="0" indent="0">
              <a:buNone/>
            </a:pPr>
            <a:r>
              <a:rPr lang="en-US" altLang="en-GB" sz="1000">
                <a:solidFill>
                  <a:srgbClr val="FF0000"/>
                </a:solidFill>
              </a:rPr>
              <a:t>Model Layer</a:t>
            </a:r>
            <a:endParaRPr lang="en-US" altLang="en-GB" sz="1000">
              <a:solidFill>
                <a:srgbClr val="FF0000"/>
              </a:solidFill>
            </a:endParaRPr>
          </a:p>
          <a:p>
            <a:r>
              <a:rPr lang="en-US" altLang="en-GB" sz="1000"/>
              <a:t>Represents database schema/table</a:t>
            </a:r>
            <a:endParaRPr lang="en-US" altLang="en-GB" sz="1000"/>
          </a:p>
          <a:p>
            <a:r>
              <a:rPr lang="en-US" altLang="en-GB" sz="1000"/>
              <a:t>Executes DB queries (find, insert, update)</a:t>
            </a:r>
            <a:endParaRPr lang="en-US" altLang="en-GB" sz="1000"/>
          </a:p>
          <a:p>
            <a:pPr marL="0" indent="0">
              <a:buNone/>
            </a:pPr>
            <a:endParaRPr lang="en-US" altLang="en-GB" sz="1000"/>
          </a:p>
          <a:p>
            <a:pPr marL="0" indent="0">
              <a:buNone/>
            </a:pPr>
            <a:r>
              <a:rPr lang="en-US" altLang="en-GB" sz="1000">
                <a:solidFill>
                  <a:srgbClr val="FF0000"/>
                </a:solidFill>
              </a:rPr>
              <a:t>Database</a:t>
            </a:r>
            <a:endParaRPr lang="en-US" altLang="en-GB" sz="1000">
              <a:solidFill>
                <a:srgbClr val="FF0000"/>
              </a:solidFill>
            </a:endParaRPr>
          </a:p>
          <a:p>
            <a:r>
              <a:rPr lang="en-US" altLang="en-GB" sz="1000"/>
              <a:t>Stores Employee records</a:t>
            </a:r>
            <a:endParaRPr lang="en-US" altLang="en-GB" sz="1000"/>
          </a:p>
          <a:p>
            <a:r>
              <a:rPr lang="en-US" altLang="en-GB" sz="1000"/>
              <a:t>Returns data to Model</a:t>
            </a:r>
            <a:endParaRPr lang="en-US" altLang="en-GB" sz="1000"/>
          </a:p>
          <a:p>
            <a:pPr marL="0" indent="0">
              <a:buNone/>
            </a:pPr>
            <a:endParaRPr lang="en-US" altLang="en-GB" sz="1000"/>
          </a:p>
          <a:p>
            <a:pPr marL="0" indent="0">
              <a:buNone/>
            </a:pPr>
            <a:r>
              <a:rPr lang="en-US" altLang="en-GB" sz="1000">
                <a:solidFill>
                  <a:srgbClr val="FF0000"/>
                </a:solidFill>
              </a:rPr>
              <a:t>Response Back</a:t>
            </a:r>
            <a:endParaRPr lang="en-US" altLang="en-GB" sz="1000">
              <a:solidFill>
                <a:srgbClr val="FF0000"/>
              </a:solidFill>
            </a:endParaRPr>
          </a:p>
          <a:p>
            <a:r>
              <a:rPr lang="en-US" altLang="en-GB" sz="1000"/>
              <a:t>Data </a:t>
            </a:r>
            <a:r>
              <a:rPr lang="en-US" altLang="en-US" sz="1000"/>
              <a:t>→</a:t>
            </a:r>
            <a:r>
              <a:rPr lang="en-US" altLang="en-GB" sz="1000"/>
              <a:t> Service </a:t>
            </a:r>
            <a:r>
              <a:rPr lang="en-US" altLang="en-US" sz="1000"/>
              <a:t>→</a:t>
            </a:r>
            <a:r>
              <a:rPr lang="en-US" altLang="en-GB" sz="1000"/>
              <a:t> Controller </a:t>
            </a:r>
            <a:r>
              <a:rPr lang="en-US" altLang="en-US" sz="1000"/>
              <a:t>→</a:t>
            </a:r>
            <a:r>
              <a:rPr lang="en-US" altLang="en-GB" sz="1000"/>
              <a:t> Frontend</a:t>
            </a:r>
            <a:endParaRPr lang="en-US" altLang="en-GB" sz="1000"/>
          </a:p>
          <a:p>
            <a:r>
              <a:rPr lang="en-US" altLang="en-GB" sz="1000"/>
              <a:t>React updates UI with employee list</a:t>
            </a:r>
            <a:endParaRPr lang="en-US" altLang="en-GB" sz="1000"/>
          </a:p>
        </p:txBody>
      </p:sp>
      <p:sp>
        <p:nvSpPr>
          <p:cNvPr id="4" name="Text Box 3"/>
          <p:cNvSpPr txBox="1"/>
          <p:nvPr/>
        </p:nvSpPr>
        <p:spPr>
          <a:xfrm>
            <a:off x="4888230" y="72072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2140" y="297180"/>
            <a:ext cx="8229600" cy="582613"/>
          </a:xfrm>
        </p:spPr>
        <p:txBody>
          <a:bodyPr/>
          <a:lstStyle/>
          <a:p>
            <a:r>
              <a:rPr sz="2000"/>
              <a:t>What is Frontend–Backend Integration?</a:t>
            </a:r>
            <a:endParaRPr sz="2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515" y="1219200"/>
            <a:ext cx="7312660" cy="4953000"/>
          </a:xfrm>
        </p:spPr>
        <p:txBody>
          <a:bodyPr/>
          <a:lstStyle/>
          <a:p>
            <a:endParaRPr sz="1800"/>
          </a:p>
          <a:p>
            <a:r>
              <a:rPr sz="1800"/>
              <a:t>Connecting a React frontend with a Node.js </a:t>
            </a:r>
            <a:endParaRPr sz="1800"/>
          </a:p>
          <a:p>
            <a:r>
              <a:rPr sz="1800"/>
              <a:t>backend through APIs.</a:t>
            </a:r>
            <a:endParaRPr sz="1800"/>
          </a:p>
          <a:p>
            <a:r>
              <a:rPr sz="1800"/>
              <a:t>Enables data exchange between UI and database.</a:t>
            </a:r>
            <a:endParaRPr sz="1800"/>
          </a:p>
          <a:p>
            <a:endParaRPr sz="1800"/>
          </a:p>
          <a:p>
            <a:r>
              <a:rPr sz="1800"/>
              <a:t>Example: Form submission from React to backend API.</a:t>
            </a:r>
            <a:endParaRPr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4340" y="591820"/>
            <a:ext cx="8229600" cy="582613"/>
          </a:xfrm>
        </p:spPr>
        <p:txBody>
          <a:bodyPr/>
          <a:lstStyle/>
          <a:p>
            <a:r>
              <a:rPr sz="2800"/>
              <a:t>Separation of Concerns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2400"/>
          </a:p>
          <a:p>
            <a:r>
              <a:rPr sz="2400"/>
              <a:t>Frontend → UI and user interaction.</a:t>
            </a:r>
            <a:endParaRPr sz="2400"/>
          </a:p>
          <a:p>
            <a:r>
              <a:rPr sz="2400"/>
              <a:t>Backend → Business logic and database.</a:t>
            </a:r>
            <a:endParaRPr sz="2400"/>
          </a:p>
          <a:p>
            <a:r>
              <a:rPr sz="2400"/>
              <a:t>Leads to scalable architecture.</a:t>
            </a:r>
            <a:endParaRPr sz="2400"/>
          </a:p>
          <a:p>
            <a:endParaRPr sz="2400"/>
          </a:p>
          <a:p>
            <a:r>
              <a:rPr sz="2400"/>
              <a:t>Example: UI changes without backend changes.</a:t>
            </a:r>
            <a:endParaRPr sz="2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4090" y="368300"/>
            <a:ext cx="8229600" cy="582613"/>
          </a:xfrm>
        </p:spPr>
        <p:txBody>
          <a:bodyPr/>
          <a:lstStyle/>
          <a:p>
            <a:r>
              <a:rPr sz="2800"/>
              <a:t>React Frontend to Backend Connection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51230"/>
            <a:ext cx="7472680" cy="4953000"/>
          </a:xfrm>
        </p:spPr>
        <p:txBody>
          <a:bodyPr/>
          <a:lstStyle/>
          <a:p>
            <a:endParaRPr sz="1800"/>
          </a:p>
          <a:p>
            <a:r>
              <a:rPr lang="en-US" altLang="en-GB" sz="1800"/>
              <a:t>React (frontend) connects to Node.js/Express (backend) using REST APIs</a:t>
            </a:r>
            <a:endParaRPr lang="en-US" altLang="en-GB" sz="1800"/>
          </a:p>
          <a:p>
            <a:endParaRPr lang="en-US" altLang="en-GB" sz="1800"/>
          </a:p>
          <a:p>
            <a:r>
              <a:rPr lang="en-US" altLang="en-GB" sz="1800"/>
              <a:t>Communication happens over HTTP using methods like GET, POST, PUT, DELETE</a:t>
            </a:r>
            <a:r>
              <a:rPr lang="en-IN" altLang="en-US" sz="1800"/>
              <a:t> (AXIOS IS USED)</a:t>
            </a:r>
            <a:endParaRPr lang="en-US" altLang="en-GB" sz="1800"/>
          </a:p>
          <a:p>
            <a:endParaRPr lang="en-US" altLang="en-GB" sz="1800"/>
          </a:p>
          <a:p>
            <a:r>
              <a:rPr lang="en-US" altLang="en-GB" sz="1800"/>
              <a:t>Data is exchanged mainly in JSON format</a:t>
            </a:r>
            <a:endParaRPr lang="en-US" altLang="en-GB" sz="1800"/>
          </a:p>
          <a:p>
            <a:endParaRPr lang="en-US" altLang="en-GB" sz="1800"/>
          </a:p>
          <a:p>
            <a:r>
              <a:rPr lang="en-US" altLang="en-GB" sz="1800"/>
              <a:t>React sends API requests </a:t>
            </a:r>
            <a:r>
              <a:rPr lang="en-US" altLang="en-US" sz="1800"/>
              <a:t>→</a:t>
            </a:r>
            <a:r>
              <a:rPr lang="en-US" altLang="en-GB" sz="1800"/>
              <a:t> Backend processes </a:t>
            </a:r>
            <a:r>
              <a:rPr lang="en-US" altLang="en-US" sz="1800"/>
              <a:t>→</a:t>
            </a:r>
            <a:r>
              <a:rPr lang="en-US" altLang="en-GB" sz="1800"/>
              <a:t> Database responds </a:t>
            </a:r>
            <a:r>
              <a:rPr lang="en-US" altLang="en-US" sz="1800"/>
              <a:t>→</a:t>
            </a:r>
            <a:r>
              <a:rPr lang="en-US" altLang="en-GB" sz="1800"/>
              <a:t> React updates UI</a:t>
            </a:r>
            <a:endParaRPr lang="en-US" altLang="en-GB" sz="1800"/>
          </a:p>
          <a:p>
            <a:endParaRPr lang="en-US" altLang="en-GB" sz="1800"/>
          </a:p>
          <a:p>
            <a:r>
              <a:rPr lang="en-US" altLang="en-GB" sz="1800"/>
              <a:t>Ensures security, validation, and business logic handled in backend</a:t>
            </a:r>
            <a:endParaRPr lang="en-US" altLang="en-GB" sz="1800"/>
          </a:p>
          <a:p>
            <a:endParaRPr lang="en-US" altLang="en-GB" sz="1800"/>
          </a:p>
          <a:p>
            <a:r>
              <a:rPr lang="en-US" altLang="en-GB" sz="1800"/>
              <a:t>Allows real-time, dynamic UI with live data from database</a:t>
            </a:r>
            <a:endParaRPr lang="en-US" altLang="en-GB" sz="1800"/>
          </a:p>
          <a:p>
            <a:endParaRPr lang="en-US" altLang="en-GB" sz="1800"/>
          </a:p>
          <a:p>
            <a:r>
              <a:rPr lang="en-US" altLang="en-GB" sz="1800"/>
              <a:t>Supports authentication, authorization, error handling, and scalability</a:t>
            </a:r>
            <a:endParaRPr lang="en-US" altLang="en-GB" sz="1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4985" y="693420"/>
            <a:ext cx="8229600" cy="582613"/>
          </a:xfrm>
        </p:spPr>
        <p:txBody>
          <a:bodyPr/>
          <a:lstStyle/>
          <a:p>
            <a:r>
              <a:t>Why Axios?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5655" y="1664970"/>
            <a:ext cx="8229600" cy="4953000"/>
          </a:xfrm>
        </p:spPr>
        <p:txBody>
          <a:bodyPr/>
          <a:lstStyle/>
          <a:p>
            <a:endParaRPr sz="2800"/>
          </a:p>
          <a:p>
            <a:r>
              <a:rPr sz="2800"/>
              <a:t>Automatic JSON transformation</a:t>
            </a:r>
            <a:endParaRPr sz="2800"/>
          </a:p>
          <a:p>
            <a:r>
              <a:rPr sz="2800"/>
              <a:t>Better error handling</a:t>
            </a:r>
            <a:endParaRPr sz="2800"/>
          </a:p>
          <a:p>
            <a:r>
              <a:rPr sz="2800"/>
              <a:t>Interceptors</a:t>
            </a:r>
            <a:endParaRPr sz="2800"/>
          </a:p>
          <a:p>
            <a:r>
              <a:rPr sz="2800"/>
              <a:t>Timeout support</a:t>
            </a:r>
            <a:endParaRPr sz="2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92985" y="448310"/>
            <a:ext cx="8229600" cy="582613"/>
          </a:xfrm>
        </p:spPr>
        <p:txBody>
          <a:bodyPr/>
          <a:lstStyle/>
          <a:p>
            <a:r>
              <a:t>State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6525"/>
            <a:ext cx="7214235" cy="4953000"/>
          </a:xfrm>
        </p:spPr>
        <p:txBody>
          <a:bodyPr/>
          <a:lstStyle/>
          <a:p>
            <a:r>
              <a:rPr lang="en-US" altLang="en-GB" sz="1600"/>
              <a:t>State Management refers to how data is stored, updated, and shared within an application, and how UI changes based on that data.</a:t>
            </a:r>
            <a:endParaRPr lang="en-US" altLang="en-GB" sz="1600"/>
          </a:p>
          <a:p>
            <a:r>
              <a:rPr lang="en-US" altLang="en-GB" sz="1600"/>
              <a:t>“State” = Current data of the application</a:t>
            </a:r>
            <a:endParaRPr lang="en-US" altLang="en-GB" sz="1600"/>
          </a:p>
          <a:p>
            <a:r>
              <a:rPr lang="en-US" altLang="en-GB" sz="1600"/>
              <a:t>(user input, API data, login status, form values, theme, cart items, etc.)</a:t>
            </a:r>
            <a:endParaRPr lang="en-US" altLang="en-GB" sz="1600"/>
          </a:p>
          <a:p>
            <a:r>
              <a:rPr lang="en-US" altLang="en-GB" sz="1600"/>
              <a:t>When state changes </a:t>
            </a:r>
            <a:r>
              <a:rPr lang="en-US" altLang="en-US" sz="1600"/>
              <a:t>→</a:t>
            </a:r>
            <a:r>
              <a:rPr lang="en-US" altLang="en-GB" sz="1600"/>
              <a:t> UI automatically updates</a:t>
            </a:r>
            <a:endParaRPr lang="en-US" altLang="en-GB" sz="1600"/>
          </a:p>
          <a:p>
            <a:endParaRPr lang="en-US" altLang="en-GB" sz="1600"/>
          </a:p>
          <a:p>
            <a:pPr marL="0" indent="0">
              <a:buNone/>
            </a:pPr>
            <a:endParaRPr lang="en-US" altLang="en-GB" sz="1600"/>
          </a:p>
          <a:p>
            <a:pPr marL="0" indent="0">
              <a:buNone/>
            </a:pPr>
            <a:r>
              <a:rPr lang="en-US" altLang="en-GB" sz="1600"/>
              <a:t>Why State Management is Needed?</a:t>
            </a:r>
            <a:endParaRPr lang="en-US" altLang="en-GB" sz="1600"/>
          </a:p>
          <a:p>
            <a:r>
              <a:rPr lang="en-US" altLang="en-GB" sz="1600"/>
              <a:t>To keep UI and data in sync</a:t>
            </a:r>
            <a:endParaRPr lang="en-US" altLang="en-GB" sz="1600"/>
          </a:p>
          <a:p>
            <a:r>
              <a:rPr lang="en-US" altLang="en-GB" sz="1600"/>
              <a:t>To manage dynamic and interactive applications</a:t>
            </a:r>
            <a:endParaRPr lang="en-US" altLang="en-GB" sz="1600"/>
          </a:p>
          <a:p>
            <a:r>
              <a:rPr lang="en-US" altLang="en-GB" sz="1600"/>
              <a:t>To share data between component</a:t>
            </a:r>
            <a:endParaRPr lang="en-US" altLang="en-GB" sz="1600"/>
          </a:p>
          <a:p>
            <a:r>
              <a:rPr lang="en-US" altLang="en-GB" sz="1600"/>
              <a:t>To avoid messy props drilling</a:t>
            </a:r>
            <a:endParaRPr lang="en-US" altLang="en-GB" sz="1600"/>
          </a:p>
          <a:p>
            <a:r>
              <a:rPr lang="en-US" altLang="en-GB" sz="1600"/>
              <a:t>To make apps scalable and maintainable</a:t>
            </a:r>
            <a:endParaRPr lang="en-US" altLang="en-GB" sz="16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400" y="190500"/>
            <a:ext cx="8229600" cy="582613"/>
          </a:xfrm>
        </p:spPr>
        <p:txBody>
          <a:bodyPr/>
          <a:p>
            <a:r>
              <a:rPr lang="en-IN" altLang="en-GB" sz="2000"/>
              <a:t>Types of State in React</a:t>
            </a:r>
            <a:endParaRPr lang="en-IN" altLang="en-GB" sz="2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lvl="1" indent="0">
              <a:buNone/>
            </a:pPr>
            <a:r>
              <a:rPr lang="en-US" altLang="en-GB" sz="1800"/>
              <a:t>1</a:t>
            </a:r>
            <a:r>
              <a:rPr lang="en-IN" altLang="en-US" sz="1800"/>
              <a:t>.</a:t>
            </a:r>
            <a:r>
              <a:rPr lang="en-US" altLang="en-GB" sz="1800"/>
              <a:t> Local State</a:t>
            </a:r>
            <a:endParaRPr lang="en-US" altLang="en-GB" sz="1800"/>
          </a:p>
          <a:p>
            <a:pPr marL="457200" lvl="1" indent="0">
              <a:buNone/>
            </a:pPr>
            <a:r>
              <a:rPr lang="en-US" altLang="en-GB" sz="1800"/>
              <a:t>Managed inside a single component</a:t>
            </a:r>
            <a:endParaRPr lang="en-US" altLang="en-GB" sz="1800"/>
          </a:p>
          <a:p>
            <a:pPr marL="457200" lvl="1" indent="0">
              <a:buNone/>
            </a:pPr>
            <a:r>
              <a:rPr lang="en-US" altLang="en-GB" sz="1800"/>
              <a:t>Example: useState</a:t>
            </a:r>
            <a:endParaRPr lang="en-US" altLang="en-GB" sz="1800"/>
          </a:p>
          <a:p>
            <a:pPr marL="457200" lvl="1" indent="0">
              <a:buNone/>
            </a:pPr>
            <a:endParaRPr lang="en-US" altLang="en-GB" sz="1800"/>
          </a:p>
          <a:p>
            <a:pPr marL="457200" lvl="1" indent="0">
              <a:buNone/>
            </a:pPr>
            <a:r>
              <a:rPr lang="en-US" altLang="en-GB" sz="1800"/>
              <a:t>2</a:t>
            </a:r>
            <a:r>
              <a:rPr lang="en-IN" altLang="en-US" sz="1800"/>
              <a:t>.</a:t>
            </a:r>
            <a:r>
              <a:rPr lang="en-US" altLang="en-GB" sz="1800"/>
              <a:t>Global/Shared State</a:t>
            </a:r>
            <a:endParaRPr lang="en-US" altLang="en-GB" sz="1800"/>
          </a:p>
          <a:p>
            <a:pPr marL="457200" lvl="1" indent="0">
              <a:buNone/>
            </a:pPr>
            <a:r>
              <a:rPr lang="en-US" altLang="en-GB" sz="1800"/>
              <a:t>Shared across multiple components</a:t>
            </a:r>
            <a:endParaRPr lang="en-US" altLang="en-GB" sz="1800"/>
          </a:p>
          <a:p>
            <a:pPr marL="457200" lvl="1" indent="0">
              <a:buNone/>
            </a:pPr>
            <a:r>
              <a:rPr lang="en-US" altLang="en-GB" sz="1800"/>
              <a:t>Example: user login, theme, cart items</a:t>
            </a:r>
            <a:endParaRPr lang="en-US" altLang="en-GB" sz="1800"/>
          </a:p>
          <a:p>
            <a:pPr marL="457200" lvl="1" indent="0">
              <a:buNone/>
            </a:pPr>
            <a:endParaRPr lang="en-US" altLang="en-GB" sz="1800"/>
          </a:p>
          <a:p>
            <a:pPr marL="457200" lvl="1" indent="0">
              <a:buNone/>
            </a:pPr>
            <a:r>
              <a:rPr lang="en-US" altLang="en-GB" sz="1800"/>
              <a:t>3</a:t>
            </a:r>
            <a:r>
              <a:rPr lang="en-IN" altLang="en-US" sz="1800"/>
              <a:t>.</a:t>
            </a:r>
            <a:r>
              <a:rPr lang="en-US" altLang="en-GB" sz="1800"/>
              <a:t>Server State</a:t>
            </a:r>
            <a:endParaRPr lang="en-US" altLang="en-GB" sz="1800"/>
          </a:p>
          <a:p>
            <a:pPr marL="457200" lvl="1" indent="0">
              <a:buNone/>
            </a:pPr>
            <a:r>
              <a:rPr lang="en-US" altLang="en-GB" sz="1800"/>
              <a:t>Data fetched from backend APIs</a:t>
            </a:r>
            <a:endParaRPr lang="en-US" altLang="en-GB" sz="1800"/>
          </a:p>
          <a:p>
            <a:pPr marL="457200" lvl="1" indent="0">
              <a:buNone/>
            </a:pPr>
            <a:r>
              <a:rPr lang="en-US" altLang="en-GB" sz="1800"/>
              <a:t>Example: Employee list from database</a:t>
            </a:r>
            <a:endParaRPr lang="en-US" altLang="en-GB" sz="1800"/>
          </a:p>
          <a:p>
            <a:pPr marL="457200" lvl="1" indent="0">
              <a:buNone/>
            </a:pPr>
            <a:endParaRPr lang="en-US" altLang="en-GB" sz="1800"/>
          </a:p>
          <a:p>
            <a:pPr marL="457200" lvl="1" indent="0">
              <a:buNone/>
            </a:pPr>
            <a:r>
              <a:rPr lang="en-US" altLang="en-GB" sz="1800"/>
              <a:t>4</a:t>
            </a:r>
            <a:r>
              <a:rPr lang="en-IN" altLang="en-US" sz="1800"/>
              <a:t>.</a:t>
            </a:r>
            <a:r>
              <a:rPr lang="en-US" altLang="en-GB" sz="1800"/>
              <a:t>UI State</a:t>
            </a:r>
            <a:endParaRPr lang="en-US" altLang="en-GB" sz="1800"/>
          </a:p>
          <a:p>
            <a:pPr marL="457200" lvl="1" indent="0">
              <a:buNone/>
            </a:pPr>
            <a:r>
              <a:rPr lang="en-US" altLang="en-GB" sz="1800"/>
              <a:t>UI specific conditions</a:t>
            </a:r>
            <a:endParaRPr lang="en-US" altLang="en-GB" sz="1800"/>
          </a:p>
          <a:p>
            <a:pPr marL="457200" lvl="1" indent="0">
              <a:buNone/>
            </a:pPr>
            <a:r>
              <a:rPr lang="en-US" altLang="en-GB" sz="1800"/>
              <a:t>Example: modal open/close, loader, dropdown toggle</a:t>
            </a:r>
            <a:endParaRPr lang="en-US" altLang="en-GB" sz="1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320" y="350520"/>
            <a:ext cx="8229600" cy="582613"/>
          </a:xfrm>
        </p:spPr>
        <p:txBody>
          <a:bodyPr/>
          <a:lstStyle/>
          <a:p>
            <a:r>
              <a:rPr lang="en-IN" sz="2400"/>
              <a:t>Common and important </a:t>
            </a:r>
            <a:r>
              <a:rPr sz="2400"/>
              <a:t>Performance Considerations</a:t>
            </a:r>
            <a:endParaRPr sz="2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73430"/>
            <a:ext cx="8229600" cy="4953000"/>
          </a:xfrm>
        </p:spPr>
        <p:txBody>
          <a:bodyPr/>
          <a:lstStyle/>
          <a:p>
            <a:endParaRPr sz="2800"/>
          </a:p>
          <a:p>
            <a:r>
              <a:rPr sz="2800"/>
              <a:t>Avoid unnecessary calls</a:t>
            </a:r>
            <a:endParaRPr sz="2800"/>
          </a:p>
          <a:p>
            <a:r>
              <a:rPr sz="2800"/>
              <a:t>Caching</a:t>
            </a:r>
            <a:endParaRPr sz="2800"/>
          </a:p>
          <a:p>
            <a:r>
              <a:rPr sz="2800"/>
              <a:t>Lazy loading</a:t>
            </a:r>
            <a:endParaRPr sz="2800"/>
          </a:p>
          <a:p>
            <a:r>
              <a:rPr lang="en-US" altLang="en-GB" sz="2800"/>
              <a:t>Pagination &amp; Limiting Data</a:t>
            </a:r>
            <a:endParaRPr lang="en-US" altLang="en-GB" sz="2800"/>
          </a:p>
          <a:p>
            <a:r>
              <a:rPr lang="en-US" altLang="en-GB" sz="2800"/>
              <a:t>Image &amp; Asset Optimization</a:t>
            </a:r>
            <a:endParaRPr lang="en-US" altLang="en-GB" sz="2800"/>
          </a:p>
          <a:p>
            <a:r>
              <a:rPr lang="en-US" altLang="en-GB" sz="2800"/>
              <a:t>Database Optimization</a:t>
            </a:r>
            <a:endParaRPr lang="en-US" altLang="en-GB" sz="2800"/>
          </a:p>
          <a:p>
            <a:r>
              <a:rPr lang="en-US" altLang="en-GB" sz="2800"/>
              <a:t>Error Handling &amp; Timeouts</a:t>
            </a:r>
            <a:endParaRPr lang="en-US" altLang="en-GB" sz="2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9285" y="270510"/>
            <a:ext cx="8229600" cy="582613"/>
          </a:xfrm>
        </p:spPr>
        <p:txBody>
          <a:bodyPr/>
          <a:p>
            <a:r>
              <a:rPr lang="en-IN" altLang="en-GB" sz="2800"/>
              <a:t>Importance of Error Handling </a:t>
            </a:r>
            <a:endParaRPr lang="en-IN" altLang="en-GB"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52500"/>
            <a:ext cx="7330440" cy="4953000"/>
          </a:xfrm>
        </p:spPr>
        <p:txBody>
          <a:bodyPr/>
          <a:p>
            <a:r>
              <a:rPr lang="en-US" altLang="en-GB" sz="2400"/>
              <a:t>Error handling refers to detecting, diagnosing, and responding to errors in an application so the system:</a:t>
            </a:r>
            <a:endParaRPr lang="en-US" altLang="en-GB" sz="2400"/>
          </a:p>
          <a:p>
            <a:r>
              <a:rPr lang="en-US" altLang="en-GB" sz="2400"/>
              <a:t>Does not crash</a:t>
            </a:r>
            <a:endParaRPr lang="en-US" altLang="en-GB" sz="2400"/>
          </a:p>
          <a:p>
            <a:r>
              <a:rPr lang="en-US" altLang="en-GB" sz="2400"/>
              <a:t>Provides meaningful feedback to users</a:t>
            </a:r>
            <a:endParaRPr lang="en-US" altLang="en-GB" sz="2400"/>
          </a:p>
          <a:p>
            <a:r>
              <a:rPr lang="en-US" altLang="en-GB" sz="2400"/>
              <a:t>Logs issues for developers</a:t>
            </a:r>
            <a:endParaRPr lang="en-US" altLang="en-GB" sz="2400"/>
          </a:p>
          <a:p>
            <a:r>
              <a:rPr lang="en-US" altLang="en-GB" sz="2400"/>
              <a:t>Maintains data integrity</a:t>
            </a:r>
            <a:endParaRPr lang="en-US" altLang="en-GB" sz="2400"/>
          </a:p>
          <a:p>
            <a:pPr marL="0" indent="0">
              <a:buNone/>
            </a:pPr>
            <a:endParaRPr lang="en-US" altLang="en-GB" sz="2400"/>
          </a:p>
          <a:p>
            <a:pPr marL="0" indent="0">
              <a:buNone/>
            </a:pPr>
            <a:r>
              <a:rPr lang="en-US" altLang="en-GB" sz="2400"/>
              <a:t>Errors can occur at three levels:</a:t>
            </a:r>
            <a:endParaRPr lang="en-US" altLang="en-GB" sz="2400"/>
          </a:p>
          <a:p>
            <a:r>
              <a:rPr lang="en-US" altLang="en-GB" sz="2400"/>
              <a:t>Database (MongoDB / Mongoose)</a:t>
            </a:r>
            <a:endParaRPr lang="en-US" altLang="en-GB" sz="2400"/>
          </a:p>
          <a:p>
            <a:r>
              <a:rPr lang="en-US" altLang="en-GB" sz="2400"/>
              <a:t>Backend (Node.js / Express API)</a:t>
            </a:r>
            <a:endParaRPr lang="en-US" altLang="en-GB" sz="2400"/>
          </a:p>
          <a:p>
            <a:r>
              <a:rPr lang="en-US" altLang="en-GB" sz="2400"/>
              <a:t>Frontend (React UI + API integration)</a:t>
            </a:r>
            <a:endParaRPr lang="en-US" altLang="en-GB" sz="2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8760" y="261620"/>
            <a:ext cx="8229600" cy="582613"/>
          </a:xfrm>
        </p:spPr>
        <p:txBody>
          <a:bodyPr/>
          <a:p>
            <a:r>
              <a:rPr lang="en-US" altLang="en-GB" sz="2400"/>
              <a:t>Types of Errors in Full-Stack Applications</a:t>
            </a:r>
            <a:endParaRPr lang="en-US" altLang="en-GB" sz="2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sz="2400"/>
              <a:t>1)Validation Errors</a:t>
            </a:r>
            <a:endParaRPr lang="en-US" altLang="en-GB" sz="2400"/>
          </a:p>
          <a:p>
            <a:pPr marL="0" indent="0">
              <a:buNone/>
            </a:pPr>
            <a:r>
              <a:rPr lang="en-US" altLang="en-GB" sz="2400"/>
              <a:t>Occur when input data is incorrect or incomplete</a:t>
            </a:r>
            <a:endParaRPr lang="en-US" altLang="en-GB" sz="2400"/>
          </a:p>
          <a:p>
            <a:pPr marL="0" indent="0">
              <a:buNone/>
            </a:pPr>
            <a:endParaRPr lang="en-US" altLang="en-GB" sz="2400"/>
          </a:p>
          <a:p>
            <a:pPr marL="0" indent="0">
              <a:buNone/>
            </a:pPr>
            <a:r>
              <a:rPr lang="en-US" altLang="en-GB" sz="2400"/>
              <a:t>2)Database Errors</a:t>
            </a:r>
            <a:endParaRPr lang="en-US" altLang="en-GB" sz="2400"/>
          </a:p>
          <a:p>
            <a:pPr marL="0" indent="0">
              <a:buNone/>
            </a:pPr>
            <a:r>
              <a:rPr lang="en-US" altLang="en-GB" sz="2400"/>
              <a:t>Caused by MongoDB or Mongoose</a:t>
            </a:r>
            <a:endParaRPr lang="en-US" altLang="en-GB" sz="2400"/>
          </a:p>
          <a:p>
            <a:pPr marL="0" indent="0">
              <a:buNone/>
            </a:pPr>
            <a:endParaRPr lang="en-US" altLang="en-GB" sz="2400"/>
          </a:p>
          <a:p>
            <a:pPr marL="0" indent="0">
              <a:buNone/>
            </a:pPr>
            <a:r>
              <a:rPr lang="en-US" altLang="en-GB" sz="2400"/>
              <a:t>3)Server / Backend Errors</a:t>
            </a:r>
            <a:endParaRPr lang="en-US" altLang="en-GB" sz="2400"/>
          </a:p>
          <a:p>
            <a:pPr marL="0" indent="0">
              <a:buNone/>
            </a:pPr>
            <a:r>
              <a:rPr lang="en-US" altLang="en-GB" sz="2400"/>
              <a:t>Caused by Node / Express</a:t>
            </a:r>
            <a:endParaRPr lang="en-US" altLang="en-GB" sz="2400"/>
          </a:p>
          <a:p>
            <a:pPr marL="0" indent="0">
              <a:buNone/>
            </a:pPr>
            <a:endParaRPr lang="en-US" altLang="en-GB" sz="2400"/>
          </a:p>
          <a:p>
            <a:pPr marL="0" indent="0">
              <a:buNone/>
            </a:pPr>
            <a:r>
              <a:rPr lang="en-US" altLang="en-GB" sz="2400"/>
              <a:t>4)Frontend Errors</a:t>
            </a:r>
            <a:endParaRPr lang="en-US" altLang="en-GB" sz="2400"/>
          </a:p>
          <a:p>
            <a:pPr marL="0" indent="0">
              <a:buNone/>
            </a:pPr>
            <a:r>
              <a:rPr lang="en-US" altLang="en-GB" sz="2400"/>
              <a:t>Caused in React</a:t>
            </a:r>
            <a:endParaRPr lang="en-US" altLang="en-GB" sz="2400"/>
          </a:p>
          <a:p>
            <a:pPr marL="0" indent="0">
              <a:buNone/>
            </a:pPr>
            <a:endParaRPr lang="en-US" altLang="en-GB" sz="2400"/>
          </a:p>
          <a:p>
            <a:pPr marL="0" indent="0">
              <a:buNone/>
            </a:pPr>
            <a:endParaRPr lang="en-US" altLang="en-GB" sz="2400"/>
          </a:p>
          <a:p>
            <a:pPr marL="0" indent="0">
              <a:buNone/>
            </a:pPr>
            <a:endParaRPr lang="en-US" altLang="en-GB" sz="24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3625" y="190500"/>
            <a:ext cx="8229600" cy="582613"/>
          </a:xfrm>
        </p:spPr>
        <p:txBody>
          <a:bodyPr/>
          <a:p>
            <a:r>
              <a:rPr lang="en-US" altLang="en-GB" sz="2400"/>
              <a:t>Error Handling in Backend (Node + Express)</a:t>
            </a:r>
            <a:endParaRPr lang="en-US" altLang="en-GB" sz="2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sz="2000"/>
              <a:t>Goals</a:t>
            </a:r>
            <a:endParaRPr lang="en-US" altLang="en-GB" sz="2000"/>
          </a:p>
          <a:p>
            <a:r>
              <a:rPr lang="en-US" altLang="en-GB" sz="2000"/>
              <a:t>Prevent server crash</a:t>
            </a:r>
            <a:endParaRPr lang="en-US" altLang="en-GB" sz="2000"/>
          </a:p>
          <a:p>
            <a:r>
              <a:rPr lang="en-US" altLang="en-GB" sz="2000"/>
              <a:t>Return meaningful error response</a:t>
            </a:r>
            <a:endParaRPr lang="en-US" altLang="en-GB" sz="2000"/>
          </a:p>
          <a:p>
            <a:r>
              <a:rPr lang="en-US" altLang="en-GB" sz="2000"/>
              <a:t>Centralized error handling</a:t>
            </a:r>
            <a:endParaRPr lang="en-US" altLang="en-GB" sz="2000"/>
          </a:p>
          <a:p>
            <a:r>
              <a:rPr lang="en-US" altLang="en-GB" sz="2000"/>
              <a:t>Standard HTTP status codes</a:t>
            </a:r>
            <a:endParaRPr lang="en-US" altLang="en-GB" sz="2000"/>
          </a:p>
          <a:p>
            <a:endParaRPr lang="en-US" altLang="en-GB" sz="2000"/>
          </a:p>
          <a:p>
            <a:pPr marL="0" indent="0">
              <a:buNone/>
            </a:pPr>
            <a:endParaRPr lang="en-US" altLang="en-GB" sz="2000"/>
          </a:p>
        </p:txBody>
      </p:sp>
      <p:sp>
        <p:nvSpPr>
          <p:cNvPr id="6" name="Text Box 5"/>
          <p:cNvSpPr txBox="1"/>
          <p:nvPr/>
        </p:nvSpPr>
        <p:spPr>
          <a:xfrm>
            <a:off x="535940" y="3390265"/>
            <a:ext cx="3431540" cy="306705"/>
          </a:xfrm>
          <a:prstGeom prst="rect">
            <a:avLst/>
          </a:prstGeom>
        </p:spPr>
        <p:txBody>
          <a:bodyPr wrap="square">
            <a:spAutoFit/>
          </a:bodyPr>
          <a:p>
            <a:pPr algn="l" defTabSz="266700">
              <a:spcBef>
                <a:spcPts val="500"/>
              </a:spcBef>
              <a:spcAft>
                <a:spcPts val="500"/>
              </a:spcAft>
            </a:pPr>
            <a:r>
              <a:rPr sz="1400" b="1">
                <a:latin typeface="SimSun" panose="02010600030101010101" pitchFamily="2" charset="-122"/>
                <a:ea typeface="SimSun" panose="02010600030101010101" pitchFamily="2" charset="-122"/>
              </a:rPr>
              <a:t>Backend Error Pattern</a:t>
            </a:r>
            <a:endParaRPr sz="1400" b="1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671195" y="3813810"/>
          <a:ext cx="5200015" cy="2132965"/>
        </p:xfrm>
        <a:graphic>
          <a:graphicData uri="http://schemas.openxmlformats.org/drawingml/2006/table">
            <a:tbl>
              <a:tblPr/>
              <a:tblGrid>
                <a:gridCol w="1281430"/>
                <a:gridCol w="3918585"/>
              </a:tblGrid>
              <a:tr h="588645">
                <a:tc>
                  <a:txBody>
                    <a:bodyPr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1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Status Code</a:t>
                      </a:r>
                      <a:endParaRPr sz="1200" b="1"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1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Meaning</a:t>
                      </a:r>
                      <a:endParaRPr sz="1200" b="1"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8610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200</a:t>
                      </a:r>
                      <a:endParaRPr sz="1200"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Success</a:t>
                      </a:r>
                      <a:endParaRPr sz="1200"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9245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400</a:t>
                      </a:r>
                      <a:endParaRPr sz="1200"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Bad Request (Validation Issue)</a:t>
                      </a:r>
                      <a:endParaRPr sz="1200"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8610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401</a:t>
                      </a:r>
                      <a:endParaRPr sz="1200"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Unauthorized</a:t>
                      </a:r>
                      <a:endParaRPr sz="1200"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9245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404</a:t>
                      </a:r>
                      <a:endParaRPr sz="1200"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Not Found</a:t>
                      </a:r>
                      <a:endParaRPr sz="1200"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8610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500</a:t>
                      </a:r>
                      <a:endParaRPr sz="1200"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Server Error</a:t>
                      </a:r>
                      <a:endParaRPr sz="1200"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8830" y="190500"/>
            <a:ext cx="8229600" cy="582613"/>
          </a:xfrm>
        </p:spPr>
        <p:txBody>
          <a:bodyPr/>
          <a:p>
            <a:r>
              <a:rPr lang="en-US" altLang="en-GB" sz="2400"/>
              <a:t>Error Handling in React (Frontend)</a:t>
            </a:r>
            <a:endParaRPr lang="en-US" altLang="en-GB" sz="2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52500"/>
            <a:ext cx="8229600" cy="4953000"/>
          </a:xfrm>
        </p:spPr>
        <p:txBody>
          <a:bodyPr/>
          <a:p>
            <a:pPr marL="0" indent="0">
              <a:buNone/>
            </a:pPr>
            <a:r>
              <a:rPr lang="en-US" altLang="en-GB" sz="1800"/>
              <a:t>Frontend must:</a:t>
            </a:r>
            <a:endParaRPr lang="en-US" altLang="en-GB" sz="1800"/>
          </a:p>
          <a:p>
            <a:r>
              <a:rPr lang="en-US" altLang="en-GB" sz="1800"/>
              <a:t>Show user-friendly messages</a:t>
            </a:r>
            <a:endParaRPr lang="en-US" altLang="en-GB" sz="1800"/>
          </a:p>
          <a:p>
            <a:r>
              <a:rPr lang="en-US" altLang="en-GB" sz="1800"/>
              <a:t>Avoid blank screens</a:t>
            </a:r>
            <a:endParaRPr lang="en-US" altLang="en-GB" sz="1800"/>
          </a:p>
          <a:p>
            <a:r>
              <a:rPr lang="en-US" altLang="en-GB" sz="1800"/>
              <a:t>Handle loading state</a:t>
            </a:r>
            <a:endParaRPr lang="en-US" altLang="en-GB" sz="1800"/>
          </a:p>
          <a:p>
            <a:r>
              <a:rPr lang="en-US" altLang="en-GB" sz="1800"/>
              <a:t>Handle failure state</a:t>
            </a:r>
            <a:endParaRPr lang="en-US" altLang="en-GB" sz="1800"/>
          </a:p>
          <a:p>
            <a:endParaRPr lang="en-US" altLang="en-GB" sz="1800"/>
          </a:p>
          <a:p>
            <a:pPr marL="0" indent="0">
              <a:buNone/>
            </a:pPr>
            <a:r>
              <a:rPr lang="en-US" altLang="en-GB" sz="1800"/>
              <a:t>Important Concepts</a:t>
            </a:r>
            <a:endParaRPr lang="en-US" altLang="en-GB" sz="1800"/>
          </a:p>
          <a:p>
            <a:r>
              <a:rPr lang="en-US" altLang="en-GB" sz="1800"/>
              <a:t>Try/Catch for async calls</a:t>
            </a:r>
            <a:endParaRPr lang="en-US" altLang="en-GB" sz="1800"/>
          </a:p>
          <a:p>
            <a:r>
              <a:rPr lang="en-US" altLang="en-GB" sz="1800"/>
              <a:t>Handle Axios / Fetch response</a:t>
            </a:r>
            <a:endParaRPr lang="en-US" altLang="en-GB" sz="1800"/>
          </a:p>
          <a:p>
            <a:r>
              <a:rPr lang="en-US" altLang="en-GB" sz="1800"/>
              <a:t>UI fallback handling</a:t>
            </a:r>
            <a:endParaRPr lang="en-US" altLang="en-GB" sz="1800"/>
          </a:p>
          <a:p>
            <a:r>
              <a:rPr lang="en-US" altLang="en-GB" sz="1800"/>
              <a:t>Toast or alert notifications</a:t>
            </a:r>
            <a:endParaRPr lang="en-US" altLang="en-GB" sz="1800"/>
          </a:p>
          <a:p>
            <a:endParaRPr lang="en-US" altLang="en-GB" sz="1800"/>
          </a:p>
          <a:p>
            <a:pPr marL="0" indent="0">
              <a:buNone/>
            </a:pPr>
            <a:r>
              <a:rPr lang="en-US" altLang="en-GB" sz="1800"/>
              <a:t>Good User Messages</a:t>
            </a:r>
            <a:endParaRPr lang="en-US" altLang="en-GB" sz="1800"/>
          </a:p>
          <a:p>
            <a:r>
              <a:rPr lang="en-US" altLang="en-US" sz="1800"/>
              <a:t>❌</a:t>
            </a:r>
            <a:r>
              <a:rPr lang="en-US" altLang="en-GB" sz="1800"/>
              <a:t> Don’t show:</a:t>
            </a:r>
            <a:endParaRPr lang="en-US" altLang="en-GB" sz="1800"/>
          </a:p>
          <a:p>
            <a:r>
              <a:rPr lang="en-US" altLang="en-GB" sz="1800"/>
              <a:t>MongoNetworkError: ECONNREFUSED</a:t>
            </a:r>
            <a:endParaRPr lang="en-US" altLang="en-GB" sz="1800"/>
          </a:p>
          <a:p>
            <a:r>
              <a:rPr lang="en-US" altLang="en-US" sz="1800"/>
              <a:t>✔</a:t>
            </a:r>
            <a:r>
              <a:rPr lang="en-US" altLang="en-US" sz="1800"/>
              <a:t>️</a:t>
            </a:r>
            <a:r>
              <a:rPr lang="en-US" altLang="en-GB" sz="1800"/>
              <a:t> Show:</a:t>
            </a:r>
            <a:endParaRPr lang="en-US" altLang="en-GB" sz="1800"/>
          </a:p>
          <a:p>
            <a:r>
              <a:rPr lang="en-US" altLang="en-GB" sz="1800"/>
              <a:t>Unable to fetch data. Please try again later.</a:t>
            </a:r>
            <a:endParaRPr lang="en-US" altLang="en-GB" sz="18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0130" y="190500"/>
            <a:ext cx="8229600" cy="582613"/>
          </a:xfrm>
        </p:spPr>
        <p:txBody>
          <a:bodyPr/>
          <a:p>
            <a:r>
              <a:rPr lang="en-US" altLang="en-GB" sz="2800"/>
              <a:t>Error Logging &amp; Monitoring</a:t>
            </a:r>
            <a:endParaRPr lang="en-US" altLang="en-GB"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6110" y="1040765"/>
            <a:ext cx="8229600" cy="4953000"/>
          </a:xfrm>
        </p:spPr>
        <p:txBody>
          <a:bodyPr/>
          <a:p>
            <a:pPr marL="0" indent="0">
              <a:buNone/>
            </a:pPr>
            <a:r>
              <a:rPr lang="en-US" altLang="en-GB" sz="2000"/>
              <a:t>Backend Logging Tools</a:t>
            </a:r>
            <a:endParaRPr lang="en-US" altLang="en-GB" sz="2000"/>
          </a:p>
          <a:p>
            <a:r>
              <a:rPr lang="en-US" altLang="en-GB" sz="2000"/>
              <a:t>console.log (development)</a:t>
            </a:r>
            <a:endParaRPr lang="en-US" altLang="en-GB" sz="2000"/>
          </a:p>
          <a:p>
            <a:r>
              <a:rPr lang="en-US" altLang="en-GB" sz="2000"/>
              <a:t>Winston</a:t>
            </a:r>
            <a:endParaRPr lang="en-US" altLang="en-GB" sz="2000"/>
          </a:p>
          <a:p>
            <a:r>
              <a:rPr lang="en-US" altLang="en-GB" sz="2000"/>
              <a:t>Morgan</a:t>
            </a:r>
            <a:endParaRPr lang="en-US" altLang="en-GB" sz="2000"/>
          </a:p>
          <a:p>
            <a:r>
              <a:rPr lang="en-US" altLang="en-GB" sz="2000"/>
              <a:t>Log files</a:t>
            </a:r>
            <a:endParaRPr lang="en-US" altLang="en-GB" sz="2000"/>
          </a:p>
          <a:p>
            <a:r>
              <a:rPr lang="en-US" altLang="en-GB" sz="2000"/>
              <a:t>Cloud log tools (ELK / CloudWatch)</a:t>
            </a:r>
            <a:endParaRPr lang="en-US" altLang="en-GB" sz="2000"/>
          </a:p>
          <a:p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Database Monitoring</a:t>
            </a:r>
            <a:endParaRPr lang="en-US" altLang="en-GB" sz="2000"/>
          </a:p>
          <a:p>
            <a:r>
              <a:rPr lang="en-US" altLang="en-GB" sz="2000"/>
              <a:t>MongoDB Compass</a:t>
            </a:r>
            <a:endParaRPr lang="en-US" altLang="en-GB" sz="2000"/>
          </a:p>
          <a:p>
            <a:r>
              <a:rPr lang="en-US" altLang="en-GB" sz="2000"/>
              <a:t>MongoDB Atlas Monitoring</a:t>
            </a:r>
            <a:endParaRPr lang="en-US" altLang="en-GB" sz="2000"/>
          </a:p>
          <a:p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Frontend Monitoring</a:t>
            </a:r>
            <a:endParaRPr lang="en-US" altLang="en-GB" sz="2000"/>
          </a:p>
          <a:p>
            <a:r>
              <a:rPr lang="en-US" altLang="en-GB" sz="2000"/>
              <a:t>Browser console</a:t>
            </a:r>
            <a:endParaRPr lang="en-US" altLang="en-GB" sz="2000"/>
          </a:p>
          <a:p>
            <a:r>
              <a:rPr lang="en-US" altLang="en-GB" sz="2000"/>
              <a:t>Sentry</a:t>
            </a:r>
            <a:endParaRPr lang="en-US" altLang="en-GB" sz="20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474*329"/>
  <p:tag name="TABLE_ENDDRAG_RECT" val="84*139*474*329"/>
</p:tagLst>
</file>

<file path=ppt/tags/tag2.xml><?xml version="1.0" encoding="utf-8"?>
<p:tagLst xmlns:p="http://schemas.openxmlformats.org/presentationml/2006/main">
  <p:tag name="TABLE_ENDDRAG_ORIGIN_RECT" val="409*167"/>
  <p:tag name="TABLE_ENDDRAG_RECT" val="52*300*409*167"/>
</p:tagLst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8331</Words>
  <Application>WPS Presentation</Application>
  <PresentationFormat>On-screen Show (4:3)</PresentationFormat>
  <Paragraphs>442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2" baseType="lpstr">
      <vt:lpstr>Arial</vt:lpstr>
      <vt:lpstr>SimSun</vt:lpstr>
      <vt:lpstr>Wingdings</vt:lpstr>
      <vt:lpstr>Microsoft YaHei</vt:lpstr>
      <vt:lpstr>Arial Unicode MS</vt:lpstr>
      <vt:lpstr>Calibri</vt:lpstr>
      <vt:lpstr>Blue Waves</vt:lpstr>
      <vt:lpstr>MongoDB &amp; Frontend–Backend Integration</vt:lpstr>
      <vt:lpstr>What is MongoDB?</vt:lpstr>
      <vt:lpstr>Why MongoDB in Modern Applications?</vt:lpstr>
      <vt:lpstr>MongoDB Use Cases</vt:lpstr>
      <vt:lpstr>MongoDB Architecture – Core Components</vt:lpstr>
      <vt:lpstr>MongoDB Document Structure</vt:lpstr>
      <vt:lpstr>What is Mongoose?</vt:lpstr>
      <vt:lpstr>Why Use Mongoose?</vt:lpstr>
      <vt:lpstr>MongoDB vs Mongoose</vt:lpstr>
      <vt:lpstr>What is a Schema?</vt:lpstr>
      <vt:lpstr>Schema Design Principles</vt:lpstr>
      <vt:lpstr>Common MongoDB Data Types</vt:lpstr>
      <vt:lpstr>What is a Model?</vt:lpstr>
      <vt:lpstr>Role of Models</vt:lpstr>
      <vt:lpstr>Model Responsibilities</vt:lpstr>
      <vt:lpstr>Database Connection Overview</vt:lpstr>
      <vt:lpstr>Production vs Development Databases</vt:lpstr>
      <vt:lpstr>RESTful API Concept</vt:lpstr>
      <vt:lpstr>Core Rest Principles </vt:lpstr>
      <vt:lpstr>Rest in Security </vt:lpstr>
      <vt:lpstr>HTTP Methods</vt:lpstr>
      <vt:lpstr>HTTP Status Codes</vt:lpstr>
      <vt:lpstr>API Flow</vt:lpstr>
      <vt:lpstr>What is Frontend–Backend Integration?</vt:lpstr>
      <vt:lpstr>Separation of Concerns</vt:lpstr>
      <vt:lpstr>React Frontend to Backend Connection</vt:lpstr>
      <vt:lpstr>Why Axios?</vt:lpstr>
      <vt:lpstr>State Management</vt:lpstr>
      <vt:lpstr>Types of State in React</vt:lpstr>
      <vt:lpstr>Common and important Performance Considerations</vt:lpstr>
      <vt:lpstr>Importance of Error Handling </vt:lpstr>
      <vt:lpstr>Types of Errors in Full-Stack Applications</vt:lpstr>
      <vt:lpstr>Error Handling in Backend (Node + Express)</vt:lpstr>
      <vt:lpstr>Error Handling in React (Frontend)</vt:lpstr>
      <vt:lpstr>Error Logging &amp; Monitoring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D R</cp:lastModifiedBy>
  <cp:revision>6</cp:revision>
  <dcterms:created xsi:type="dcterms:W3CDTF">2013-01-27T09:14:00Z</dcterms:created>
  <dcterms:modified xsi:type="dcterms:W3CDTF">2025-12-29T11:07:07Z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71D0A1A94D654F199D2C499FC40A3BF6_13</vt:lpwstr>
  </property>
  <property fmtid="{D5CDD505-2E9C-101B-9397-08002B2CF9AE}" pid="3" name="KSOProductBuildVer">
    <vt:lpwstr>2057-12.2.0.23158</vt:lpwstr>
  </property>
</Properties>
</file>